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MAb3zDL458fHPmyAN3LD5vPX7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[Sources]</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User-provided notebook: Breast_Cancer_EDA_Notebook.ipynb (analysis content and figures).</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User-provided template: template.pptx (layout/branding reference).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UCI Machine Learning Repository, Breast Cancer Wisconsin (Diagnostic): https://archive.ics.uci.edu/dataset/17/breast+cancer+wisconsin+diagnostic (accessed 2026-04-14).</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endParaRPr sz="1200">
              <a:solidFill>
                <a:schemeClr val="dk1"/>
              </a:solidFill>
              <a:latin typeface="Arial"/>
              <a:ea typeface="Arial"/>
              <a:cs typeface="Arial"/>
              <a:sym typeface="Arial"/>
            </a:endParaRPr>
          </a:p>
          <a:p>
            <a:pPr indent="-304800" lvl="0" marL="457200" marR="0" rtl="0" algn="l">
              <a:spcBef>
                <a:spcPts val="0"/>
              </a:spcBef>
              <a:spcAft>
                <a:spcPts val="0"/>
              </a:spcAft>
              <a:buClr>
                <a:schemeClr val="dk1"/>
              </a:buClr>
              <a:buSzPts val="1200"/>
              <a:buFont typeface="Arial"/>
              <a:buChar char="-"/>
            </a:pPr>
            <a:r>
              <a:rPr lang="en-US" sz="1200">
                <a:solidFill>
                  <a:schemeClr val="dk1"/>
                </a:solidFill>
              </a:rPr>
              <a:t>https://radiologybusiness.com/topics/medical-imaging/womens-imaging/breast-imaging/photo-gallery-what-does-breast-cancer-look-mammography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d62a2c1f65_0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g3d62a2c1f65_0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sz="1200">
              <a:solidFill>
                <a:schemeClr val="dk1"/>
              </a:solidFill>
              <a:latin typeface="Arial"/>
              <a:ea typeface="Arial"/>
              <a:cs typeface="Arial"/>
              <a:sym typeface="Arial"/>
            </a:endParaRPr>
          </a:p>
          <a:p>
            <a:pPr indent="-304800" lvl="0" marL="457200" marR="0" rtl="0" algn="l">
              <a:spcBef>
                <a:spcPts val="0"/>
              </a:spcBef>
              <a:spcAft>
                <a:spcPts val="0"/>
              </a:spcAft>
              <a:buClr>
                <a:schemeClr val="dk1"/>
              </a:buClr>
              <a:buSzPts val="1200"/>
              <a:buChar char="-"/>
            </a:pPr>
            <a:r>
              <a:rPr lang="en-US" sz="1200">
                <a:solidFill>
                  <a:schemeClr val="dk1"/>
                </a:solidFill>
              </a:rPr>
              <a:t>https://radiologybusiness.com/topics/medical-imaging/womens-imaging/breast-imaging/photo-gallery-what-does-breast-cancer-look-mammography</a:t>
            </a:r>
            <a:endParaRPr sz="1200">
              <a:solidFill>
                <a:schemeClr val="dk1"/>
              </a:solidFill>
            </a:endParaRPr>
          </a:p>
        </p:txBody>
      </p:sp>
      <p:sp>
        <p:nvSpPr>
          <p:cNvPr id="31" name="Google Shape;31;g3d62a2c1f65_0_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d62a2c1f65_0_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g3d62a2c1f65_0_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42" name="Google Shape;42;g3d62a2c1f65_0_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d62a2c1f65_0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g3d62a2c1f65_0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51" name="Google Shape;51;g3d62a2c1f65_0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62a2c1f65_0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g3d62a2c1f65_0_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60" name="Google Shape;60;g3d62a2c1f65_0_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62a2c1f65_0_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d62a2c1f65_0_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69" name="Google Shape;69;g3d62a2c1f65_0_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62a2c1f65_0_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g3d62a2c1f65_0_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78" name="Google Shape;78;g3d62a2c1f65_0_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62a2c1f65_0_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g3d62a2c1f65_0_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87" name="Google Shape;87;g3d62a2c1f65_0_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(condensed data dictionary, descriptive statistics, and interpretation).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dataset page for variable definitions: https://archive.ics.uci.edu/dataset/17/breast+cancer+wisconsin+diagnostic (accessed 2026-04-14).</a:t>
            </a:r>
            <a:endParaRPr/>
          </a:p>
        </p:txBody>
      </p:sp>
      <p:sp>
        <p:nvSpPr>
          <p:cNvPr id="103" name="Google Shape;10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(cleaning pipeline, missing-value analysis, and encoding decisions).</a:t>
            </a:r>
            <a:endParaRPr/>
          </a:p>
        </p:txBody>
      </p:sp>
      <p:sp>
        <p:nvSpPr>
          <p:cNvPr id="115" name="Google Shape;11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(condensed data dictionary, descriptive statistics, and interpretation).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dataset page for variable definitions: https://archive.ics.uci.edu/dataset/17/breast+cancer+wisconsin+diagnostic (accessed 2026-04-14).</a:t>
            </a:r>
            <a:endParaRPr/>
          </a:p>
        </p:txBody>
      </p:sp>
      <p:sp>
        <p:nvSpPr>
          <p:cNvPr id="126" name="Google Shape;12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(boxplot figure, outlier summary table, IQR and Z-score methodology, and interpretation).</a:t>
            </a:r>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(boxplot figure, outlier summary table, IQR and Z-score methodology, and interpretation).</a:t>
            </a:r>
            <a:endParaRPr/>
          </a:p>
        </p:txBody>
      </p:sp>
      <p:sp>
        <p:nvSpPr>
          <p:cNvPr id="149" name="Google Shape;14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(feature engineering, encoding, and RobustScaler implementation).</a:t>
            </a:r>
            <a:endParaRPr/>
          </a:p>
        </p:txBody>
      </p:sp>
      <p:sp>
        <p:nvSpPr>
          <p:cNvPr id="161" name="Google Shape;16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(Figure 1 and accompanying interpretation).</a:t>
            </a:r>
            <a:endParaRPr/>
          </a:p>
        </p:txBody>
      </p:sp>
      <p:sp>
        <p:nvSpPr>
          <p:cNvPr id="175" name="Google Shape;17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(Figure 2 heatmap, strongest-correlation table, and interpretation).</a:t>
            </a:r>
            <a:endParaRPr/>
          </a:p>
        </p:txBody>
      </p:sp>
      <p:sp>
        <p:nvSpPr>
          <p:cNvPr id="186" name="Google Shape;18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(Figures 3–5, class distribution counts, radius-band crosstab, texture-band crosstab, and interpretation).</a:t>
            </a:r>
            <a:endParaRPr/>
          </a:p>
        </p:txBody>
      </p:sp>
      <p:sp>
        <p:nvSpPr>
          <p:cNvPr id="198" name="Google Shape;19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(Figures 6–7 and the reported 63.64% explained variance for PC1+PC2).</a:t>
            </a:r>
            <a:endParaRPr/>
          </a:p>
        </p:txBody>
      </p:sp>
      <p:sp>
        <p:nvSpPr>
          <p:cNvPr id="209" name="Google Shape;20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(conclusion and pipeline results).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The recommendation to fit preprocessing on the training split only reflects standard leakage prevention practice for supervised machine learning.</a:t>
            </a:r>
            <a:endParaRPr/>
          </a:p>
        </p:txBody>
      </p:sp>
      <p:sp>
        <p:nvSpPr>
          <p:cNvPr id="220" name="Google Shape;22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62a2c1f65_0_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g3d62a2c1f65_0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232" name="Google Shape;232;g3d62a2c1f65_0_9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62a2c1f65_0_1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d62a2c1f65_0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241" name="Google Shape;241;g3d62a2c1f65_0_1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doi.org/10.1080/21681163.2023.2299093" TargetMode="External"/><Relationship Id="rId4" Type="http://schemas.openxmlformats.org/officeDocument/2006/relationships/hyperlink" Target="https://doi.org/10.1016/j.ibmed.2024.100193" TargetMode="External"/><Relationship Id="rId5" Type="http://schemas.openxmlformats.org/officeDocument/2006/relationships/hyperlink" Target="https://doi.org/10.1093/jamia/ocad232" TargetMode="External"/><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1"/>
          <p:cNvSpPr/>
          <p:nvPr/>
        </p:nvSpPr>
        <p:spPr>
          <a:xfrm>
            <a:off x="868680" y="744094"/>
            <a:ext cx="8074152" cy="204482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3600"/>
              <a:buFont typeface="Arial"/>
              <a:buNone/>
            </a:pPr>
            <a:r>
              <a:rPr b="1" i="0" lang="en-US" sz="3600" u="none" cap="none" strike="noStrike">
                <a:solidFill>
                  <a:srgbClr val="0B1F5B"/>
                </a:solidFill>
                <a:latin typeface="Arial"/>
                <a:ea typeface="Arial"/>
                <a:cs typeface="Arial"/>
                <a:sym typeface="Arial"/>
              </a:rPr>
              <a:t>Breast Cancer Prediction using Machine Learning Algorithms</a:t>
            </a:r>
            <a:endParaRPr/>
          </a:p>
          <a:p>
            <a:pPr indent="0" lvl="0" marL="0" marR="0" rtl="0" algn="l">
              <a:spcBef>
                <a:spcPts val="0"/>
              </a:spcBef>
              <a:spcAft>
                <a:spcPts val="0"/>
              </a:spcAft>
              <a:buClr>
                <a:srgbClr val="BF9000"/>
              </a:buClr>
              <a:buSzPts val="2800"/>
              <a:buFont typeface="Arial"/>
              <a:buNone/>
            </a:pPr>
            <a:r>
              <a:rPr b="1" i="0" lang="en-US" sz="2800" u="none" cap="none" strike="noStrike">
                <a:solidFill>
                  <a:srgbClr val="BF9000"/>
                </a:solidFill>
                <a:latin typeface="Arial"/>
                <a:ea typeface="Arial"/>
                <a:cs typeface="Arial"/>
                <a:sym typeface="Arial"/>
              </a:rPr>
              <a:t>Data Acquisition, </a:t>
            </a:r>
            <a:endParaRPr/>
          </a:p>
          <a:p>
            <a:pPr indent="0" lvl="0" marL="0" marR="0" rtl="0" algn="l">
              <a:spcBef>
                <a:spcPts val="0"/>
              </a:spcBef>
              <a:spcAft>
                <a:spcPts val="0"/>
              </a:spcAft>
              <a:buClr>
                <a:srgbClr val="BF9000"/>
              </a:buClr>
              <a:buSzPts val="2800"/>
              <a:buFont typeface="Arial"/>
              <a:buNone/>
            </a:pPr>
            <a:r>
              <a:rPr b="1" i="0" lang="en-US" sz="2800" u="none" cap="none" strike="noStrike">
                <a:solidFill>
                  <a:srgbClr val="BF9000"/>
                </a:solidFill>
                <a:latin typeface="Arial"/>
                <a:ea typeface="Arial"/>
                <a:cs typeface="Arial"/>
                <a:sym typeface="Arial"/>
              </a:rPr>
              <a:t>Wrangling &amp; Exploratory Analysis</a:t>
            </a:r>
            <a:endParaRPr b="0" i="0" sz="2800" u="none" cap="none" strike="noStrike">
              <a:solidFill>
                <a:srgbClr val="BF9000"/>
              </a:solidFill>
              <a:latin typeface="Arial"/>
              <a:ea typeface="Arial"/>
              <a:cs typeface="Arial"/>
              <a:sym typeface="Arial"/>
            </a:endParaRPr>
          </a:p>
        </p:txBody>
      </p:sp>
      <p:cxnSp>
        <p:nvCxnSpPr>
          <p:cNvPr id="13" name="Google Shape;13;p1"/>
          <p:cNvCxnSpPr/>
          <p:nvPr/>
        </p:nvCxnSpPr>
        <p:spPr>
          <a:xfrm>
            <a:off x="868680" y="2788920"/>
            <a:ext cx="10241280" cy="0"/>
          </a:xfrm>
          <a:prstGeom prst="straightConnector1">
            <a:avLst/>
          </a:prstGeom>
          <a:noFill/>
          <a:ln cap="flat" cmpd="sng" w="25400">
            <a:solidFill>
              <a:srgbClr val="B78A2A"/>
            </a:solidFill>
            <a:prstDash val="solid"/>
            <a:round/>
            <a:headEnd len="sm" w="sm" type="none"/>
            <a:tailEnd len="sm" w="sm" type="none"/>
          </a:ln>
        </p:spPr>
      </p:cxnSp>
      <p:pic>
        <p:nvPicPr>
          <p:cNvPr descr="/mnt/data/template_logo.png" id="14" name="Google Shape;14;p1"/>
          <p:cNvPicPr preferRelativeResize="0"/>
          <p:nvPr/>
        </p:nvPicPr>
        <p:blipFill rotWithShape="1">
          <a:blip r:embed="rId3">
            <a:alphaModFix/>
          </a:blip>
          <a:srcRect b="0" l="0" r="0" t="0"/>
          <a:stretch/>
        </p:blipFill>
        <p:spPr>
          <a:xfrm>
            <a:off x="10698480" y="5792724"/>
            <a:ext cx="822960" cy="717804"/>
          </a:xfrm>
          <a:prstGeom prst="rect">
            <a:avLst/>
          </a:prstGeom>
          <a:noFill/>
          <a:ln>
            <a:noFill/>
          </a:ln>
        </p:spPr>
      </p:pic>
      <p:sp>
        <p:nvSpPr>
          <p:cNvPr id="15" name="Google Shape;15;p1"/>
          <p:cNvSpPr/>
          <p:nvPr/>
        </p:nvSpPr>
        <p:spPr>
          <a:xfrm>
            <a:off x="868680" y="3046667"/>
            <a:ext cx="8074152" cy="204482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800"/>
              <a:buFont typeface="Arial"/>
              <a:buNone/>
            </a:pPr>
            <a:r>
              <a:t/>
            </a:r>
            <a:endParaRPr b="0" i="0" sz="2800" u="none" cap="none" strike="noStrike">
              <a:solidFill>
                <a:srgbClr val="BF9000"/>
              </a:solidFill>
              <a:latin typeface="Arial"/>
              <a:ea typeface="Arial"/>
              <a:cs typeface="Arial"/>
              <a:sym typeface="Arial"/>
            </a:endParaRPr>
          </a:p>
        </p:txBody>
      </p:sp>
      <p:sp>
        <p:nvSpPr>
          <p:cNvPr id="16" name="Google Shape;16;p1"/>
          <p:cNvSpPr txBox="1"/>
          <p:nvPr/>
        </p:nvSpPr>
        <p:spPr>
          <a:xfrm>
            <a:off x="744855" y="4081373"/>
            <a:ext cx="8886825"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CSCI 7090 Data Science and Machine Learning Project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Team 1 Members: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Bright Agbenu</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Sarah Sejoro</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Anandhi Kandaswamy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2"/>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Introduction</a:t>
            </a:r>
            <a:endParaRPr sz="2800">
              <a:solidFill>
                <a:schemeClr val="dk1"/>
              </a:solidFill>
              <a:latin typeface="Arial"/>
              <a:ea typeface="Arial"/>
              <a:cs typeface="Arial"/>
              <a:sym typeface="Arial"/>
            </a:endParaRPr>
          </a:p>
        </p:txBody>
      </p:sp>
      <p:cxnSp>
        <p:nvCxnSpPr>
          <p:cNvPr id="23" name="Google Shape;23;p2"/>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24" name="Google Shape;24;p2"/>
          <p:cNvSpPr/>
          <p:nvPr/>
        </p:nvSpPr>
        <p:spPr>
          <a:xfrm>
            <a:off x="502925" y="1316901"/>
            <a:ext cx="5492400" cy="43872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850">
                <a:solidFill>
                  <a:srgbClr val="1F2430"/>
                </a:solidFill>
              </a:rPr>
              <a:t>B</a:t>
            </a:r>
            <a:r>
              <a:rPr lang="en-US" sz="1950">
                <a:solidFill>
                  <a:srgbClr val="1F2430"/>
                </a:solidFill>
              </a:rPr>
              <a:t>reast Cancer a</a:t>
            </a:r>
            <a:r>
              <a:rPr lang="en-US" sz="1950">
                <a:solidFill>
                  <a:srgbClr val="1F2430"/>
                </a:solidFill>
                <a:latin typeface="Arial"/>
                <a:ea typeface="Arial"/>
                <a:cs typeface="Arial"/>
                <a:sym typeface="Arial"/>
              </a:rPr>
              <a:t>ccount</a:t>
            </a:r>
            <a:r>
              <a:rPr lang="en-US" sz="1950">
                <a:solidFill>
                  <a:srgbClr val="1F2430"/>
                </a:solidFill>
              </a:rPr>
              <a:t>s</a:t>
            </a:r>
            <a:r>
              <a:rPr lang="en-US" sz="1950">
                <a:solidFill>
                  <a:srgbClr val="1F2430"/>
                </a:solidFill>
                <a:latin typeface="Arial"/>
                <a:ea typeface="Arial"/>
                <a:cs typeface="Arial"/>
                <a:sym typeface="Arial"/>
              </a:rPr>
              <a:t> for approximately 15.5% of new cancer cases and 6.8% of all cancer‑related deaths in 2025</a:t>
            </a:r>
            <a:endParaRPr sz="1950">
              <a:solidFill>
                <a:srgbClr val="1F2430"/>
              </a:solidFill>
              <a:latin typeface="Arial"/>
              <a:ea typeface="Arial"/>
              <a:cs typeface="Arial"/>
              <a:sym typeface="Aria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Font typeface="Arial"/>
              <a:buChar char="•"/>
            </a:pPr>
            <a:r>
              <a:rPr lang="en-US" sz="1950">
                <a:solidFill>
                  <a:srgbClr val="1F2430"/>
                </a:solidFill>
              </a:rPr>
              <a:t>5‑year relative survival rate of nearly 91.7%. (CDC, 2025)</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Font typeface="Arial"/>
              <a:buChar char="•"/>
            </a:pPr>
            <a:r>
              <a:rPr lang="en-US" sz="1950">
                <a:solidFill>
                  <a:srgbClr val="1F2430"/>
                </a:solidFill>
              </a:rPr>
              <a:t>13% lifetime risk in women and 1% lifetime risk in men (ACS, 2026)</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Font typeface="Arial"/>
              <a:buChar char="•"/>
            </a:pPr>
            <a:r>
              <a:rPr lang="en-US" sz="1950">
                <a:solidFill>
                  <a:srgbClr val="1F2430"/>
                </a:solidFill>
              </a:rPr>
              <a:t>Leading cause of mortality in women worldwide</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Early and precise diagnostic interventions are essential</a:t>
            </a:r>
            <a:endParaRPr sz="1950">
              <a:solidFill>
                <a:srgbClr val="1F2430"/>
              </a:solidFill>
            </a:endParaRPr>
          </a:p>
          <a:p>
            <a:pPr indent="0" lvl="0" marL="457200" marR="0" rtl="0" algn="l">
              <a:spcBef>
                <a:spcPts val="0"/>
              </a:spcBef>
              <a:spcAft>
                <a:spcPts val="0"/>
              </a:spcAft>
              <a:buNone/>
            </a:pPr>
            <a:r>
              <a:t/>
            </a:r>
            <a:endParaRPr sz="1950">
              <a:solidFill>
                <a:schemeClr val="dk1"/>
              </a:solidFill>
              <a:latin typeface="Arial"/>
              <a:ea typeface="Arial"/>
              <a:cs typeface="Arial"/>
              <a:sym typeface="Arial"/>
            </a:endParaRPr>
          </a:p>
          <a:p>
            <a:pPr indent="0" lvl="0" marL="457200" marR="0" rtl="0" algn="l">
              <a:spcBef>
                <a:spcPts val="0"/>
              </a:spcBef>
              <a:spcAft>
                <a:spcPts val="0"/>
              </a:spcAft>
              <a:buNone/>
            </a:pPr>
            <a:r>
              <a:t/>
            </a:r>
            <a:endParaRPr/>
          </a:p>
          <a:p>
            <a:pPr indent="0" lvl="0" marL="457200" marR="0" rtl="0" algn="l">
              <a:spcBef>
                <a:spcPts val="0"/>
              </a:spcBef>
              <a:spcAft>
                <a:spcPts val="0"/>
              </a:spcAft>
              <a:buNone/>
            </a:pPr>
            <a:r>
              <a:t/>
            </a:r>
            <a:endParaRPr sz="1650">
              <a:solidFill>
                <a:schemeClr val="dk1"/>
              </a:solidFill>
              <a:latin typeface="Arial"/>
              <a:ea typeface="Arial"/>
              <a:cs typeface="Arial"/>
              <a:sym typeface="Arial"/>
            </a:endParaRPr>
          </a:p>
        </p:txBody>
      </p:sp>
      <p:pic>
        <p:nvPicPr>
          <p:cNvPr descr="/mnt/data/template_logo.png" id="25" name="Google Shape;25;p2"/>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26" name="Google Shape;26;p2"/>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rPr>
              <a:t>Images of Breast Cancer</a:t>
            </a:r>
            <a:endParaRPr sz="1300">
              <a:solidFill>
                <a:schemeClr val="dk1"/>
              </a:solidFill>
              <a:latin typeface="Arial"/>
              <a:ea typeface="Arial"/>
              <a:cs typeface="Arial"/>
              <a:sym typeface="Arial"/>
            </a:endParaRPr>
          </a:p>
        </p:txBody>
      </p:sp>
      <p:pic>
        <p:nvPicPr>
          <p:cNvPr id="27" name="Google Shape;27;p2"/>
          <p:cNvPicPr preferRelativeResize="0"/>
          <p:nvPr/>
        </p:nvPicPr>
        <p:blipFill>
          <a:blip r:embed="rId4">
            <a:alphaModFix/>
          </a:blip>
          <a:stretch>
            <a:fillRect/>
          </a:stretch>
        </p:blipFill>
        <p:spPr>
          <a:xfrm>
            <a:off x="7229675" y="1395321"/>
            <a:ext cx="3887625" cy="3906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g3d62a2c1f65_0_32"/>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Literature Search Methodology</a:t>
            </a:r>
            <a:endParaRPr sz="2800">
              <a:solidFill>
                <a:schemeClr val="dk1"/>
              </a:solidFill>
              <a:latin typeface="Arial"/>
              <a:ea typeface="Arial"/>
              <a:cs typeface="Arial"/>
              <a:sym typeface="Arial"/>
            </a:endParaRPr>
          </a:p>
        </p:txBody>
      </p:sp>
      <p:cxnSp>
        <p:nvCxnSpPr>
          <p:cNvPr id="34" name="Google Shape;34;g3d62a2c1f65_0_32"/>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35" name="Google Shape;35;g3d62a2c1f65_0_32"/>
          <p:cNvSpPr/>
          <p:nvPr/>
        </p:nvSpPr>
        <p:spPr>
          <a:xfrm>
            <a:off x="487825" y="1473926"/>
            <a:ext cx="5492400" cy="43872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950">
                <a:solidFill>
                  <a:srgbClr val="1F2430"/>
                </a:solidFill>
              </a:rPr>
              <a:t>Peer‑reviewed journal articles and conference papers related to the application of ML and DL in breast cancer diagnosis and disease classification.</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keywords including “breast cancer diagnosis,” “machine learning,” “deep learning,” “disease classification,” “digital pathology,” and “medical imaging ML models.” Databases consulted included PubMed, IEEE Xplore, ScienceDirect, and Google Scholar.</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0" lvl="0" marL="457200" marR="0" rtl="0" algn="l">
              <a:spcBef>
                <a:spcPts val="0"/>
              </a:spcBef>
              <a:spcAft>
                <a:spcPts val="0"/>
              </a:spcAft>
              <a:buNone/>
            </a:pPr>
            <a:r>
              <a:t/>
            </a:r>
            <a:endParaRPr sz="1950">
              <a:solidFill>
                <a:schemeClr val="dk1"/>
              </a:solidFill>
              <a:latin typeface="Arial"/>
              <a:ea typeface="Arial"/>
              <a:cs typeface="Arial"/>
              <a:sym typeface="Arial"/>
            </a:endParaRPr>
          </a:p>
          <a:p>
            <a:pPr indent="0" lvl="0" marL="457200" marR="0" rtl="0" algn="l">
              <a:spcBef>
                <a:spcPts val="0"/>
              </a:spcBef>
              <a:spcAft>
                <a:spcPts val="0"/>
              </a:spcAft>
              <a:buNone/>
            </a:pPr>
            <a:r>
              <a:t/>
            </a:r>
            <a:endParaRPr/>
          </a:p>
          <a:p>
            <a:pPr indent="0" lvl="0" marL="457200" marR="0" rtl="0" algn="l">
              <a:spcBef>
                <a:spcPts val="0"/>
              </a:spcBef>
              <a:spcAft>
                <a:spcPts val="0"/>
              </a:spcAft>
              <a:buNone/>
            </a:pPr>
            <a:r>
              <a:t/>
            </a:r>
            <a:endParaRPr sz="1650">
              <a:solidFill>
                <a:schemeClr val="dk1"/>
              </a:solidFill>
              <a:latin typeface="Arial"/>
              <a:ea typeface="Arial"/>
              <a:cs typeface="Arial"/>
              <a:sym typeface="Arial"/>
            </a:endParaRPr>
          </a:p>
        </p:txBody>
      </p:sp>
      <p:pic>
        <p:nvPicPr>
          <p:cNvPr descr="/mnt/data/template_logo.png" id="36" name="Google Shape;36;g3d62a2c1f65_0_32"/>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37" name="Google Shape;37;g3d62a2c1f65_0_32"/>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rPr>
              <a:t>Images of Breast Cancer</a:t>
            </a:r>
            <a:endParaRPr sz="1300">
              <a:solidFill>
                <a:schemeClr val="dk1"/>
              </a:solidFill>
              <a:latin typeface="Arial"/>
              <a:ea typeface="Arial"/>
              <a:cs typeface="Arial"/>
              <a:sym typeface="Arial"/>
            </a:endParaRPr>
          </a:p>
        </p:txBody>
      </p:sp>
      <p:pic>
        <p:nvPicPr>
          <p:cNvPr id="38" name="Google Shape;38;g3d62a2c1f65_0_32"/>
          <p:cNvPicPr preferRelativeResize="0"/>
          <p:nvPr/>
        </p:nvPicPr>
        <p:blipFill>
          <a:blip r:embed="rId4">
            <a:alphaModFix/>
          </a:blip>
          <a:stretch>
            <a:fillRect/>
          </a:stretch>
        </p:blipFill>
        <p:spPr>
          <a:xfrm>
            <a:off x="7229675" y="1395321"/>
            <a:ext cx="3887625" cy="390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g3d62a2c1f65_0_22"/>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Literature Review</a:t>
            </a:r>
            <a:endParaRPr sz="2800">
              <a:solidFill>
                <a:schemeClr val="dk1"/>
              </a:solidFill>
              <a:latin typeface="Arial"/>
              <a:ea typeface="Arial"/>
              <a:cs typeface="Arial"/>
              <a:sym typeface="Arial"/>
            </a:endParaRPr>
          </a:p>
        </p:txBody>
      </p:sp>
      <p:cxnSp>
        <p:nvCxnSpPr>
          <p:cNvPr id="45" name="Google Shape;45;g3d62a2c1f65_0_22"/>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46" name="Google Shape;46;g3d62a2c1f65_0_22"/>
          <p:cNvSpPr/>
          <p:nvPr/>
        </p:nvSpPr>
        <p:spPr>
          <a:xfrm>
            <a:off x="487825" y="1235400"/>
            <a:ext cx="10992600" cy="46899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950">
                <a:solidFill>
                  <a:srgbClr val="1F2430"/>
                </a:solidFill>
              </a:rPr>
              <a:t>Traditional screening tools such as mammography, breast MRI, ultrasound, and PET scans often demonstrate limited accuracy, sometimes as low as 60–70%</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Supervised learning models with with boosted trees and SVM-based approaches often ranked among the best performers for radiomics and clinical-feature classification. (Zhou et al., 2024; Li et al., 2024; Xiao et al., 2022; Yao et al., 2024)</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Studies also show that combining radiomics with clinical variables can improve prediction. (</a:t>
            </a:r>
            <a:r>
              <a:rPr lang="en-US" sz="1950">
                <a:solidFill>
                  <a:srgbClr val="1F2430"/>
                </a:solidFill>
              </a:rPr>
              <a:t>Zhou et al., 2024; Li et al., 2024)</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Prioritizing high-impact variables like tumor size, age, and metastasis, researchers significantly enhanced model reliability and reduced computational complexity (La Moglia &amp; Almustafa, 2025).</a:t>
            </a:r>
            <a:endParaRPr sz="1950">
              <a:solidFill>
                <a:srgbClr val="1F2430"/>
              </a:solidFill>
            </a:endParaRPr>
          </a:p>
          <a:p>
            <a:pPr indent="0" lvl="0" marL="457200" marR="0" rtl="0" algn="l">
              <a:spcBef>
                <a:spcPts val="0"/>
              </a:spcBef>
              <a:spcAft>
                <a:spcPts val="0"/>
              </a:spcAft>
              <a:buNone/>
            </a:pPr>
            <a:r>
              <a:rPr lang="en-US" sz="1950">
                <a:solidFill>
                  <a:srgbClr val="1F2430"/>
                </a:solidFill>
              </a:rPr>
              <a:t>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Arravalli et al. (2025) addresses interpretability via explainable AI (XAI) can enhance trust of clinicians in DS/ ML models but high interpretability came at a performance cost due to data complexicity.</a:t>
            </a:r>
            <a:endParaRPr sz="1950">
              <a:solidFill>
                <a:srgbClr val="1F2430"/>
              </a:solidFill>
            </a:endParaRPr>
          </a:p>
          <a:p>
            <a:pPr indent="0" lvl="0" marL="457200" marR="0" rtl="0" algn="l">
              <a:spcBef>
                <a:spcPts val="0"/>
              </a:spcBef>
              <a:spcAft>
                <a:spcPts val="0"/>
              </a:spcAft>
              <a:buNone/>
            </a:pPr>
            <a:r>
              <a:t/>
            </a:r>
            <a:endParaRPr sz="1950">
              <a:solidFill>
                <a:schemeClr val="dk1"/>
              </a:solidFill>
              <a:latin typeface="Arial"/>
              <a:ea typeface="Arial"/>
              <a:cs typeface="Arial"/>
              <a:sym typeface="Arial"/>
            </a:endParaRPr>
          </a:p>
          <a:p>
            <a:pPr indent="0" lvl="0" marL="457200" marR="0" rtl="0" algn="l">
              <a:spcBef>
                <a:spcPts val="0"/>
              </a:spcBef>
              <a:spcAft>
                <a:spcPts val="0"/>
              </a:spcAft>
              <a:buNone/>
            </a:pPr>
            <a:r>
              <a:t/>
            </a:r>
            <a:endParaRPr/>
          </a:p>
          <a:p>
            <a:pPr indent="0" lvl="0" marL="457200" marR="0" rtl="0" algn="l">
              <a:spcBef>
                <a:spcPts val="0"/>
              </a:spcBef>
              <a:spcAft>
                <a:spcPts val="0"/>
              </a:spcAft>
              <a:buNone/>
            </a:pPr>
            <a:r>
              <a:t/>
            </a:r>
            <a:endParaRPr sz="1650">
              <a:solidFill>
                <a:schemeClr val="dk1"/>
              </a:solidFill>
              <a:latin typeface="Arial"/>
              <a:ea typeface="Arial"/>
              <a:cs typeface="Arial"/>
              <a:sym typeface="Arial"/>
            </a:endParaRPr>
          </a:p>
        </p:txBody>
      </p:sp>
      <p:pic>
        <p:nvPicPr>
          <p:cNvPr descr="/mnt/data/template_logo.png" id="47" name="Google Shape;47;g3d62a2c1f65_0_22"/>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g3d62a2c1f65_0_50"/>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Limitations</a:t>
            </a:r>
            <a:endParaRPr sz="2800">
              <a:solidFill>
                <a:schemeClr val="dk1"/>
              </a:solidFill>
              <a:latin typeface="Arial"/>
              <a:ea typeface="Arial"/>
              <a:cs typeface="Arial"/>
              <a:sym typeface="Arial"/>
            </a:endParaRPr>
          </a:p>
        </p:txBody>
      </p:sp>
      <p:cxnSp>
        <p:nvCxnSpPr>
          <p:cNvPr id="54" name="Google Shape;54;g3d62a2c1f65_0_50"/>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55" name="Google Shape;55;g3d62a2c1f65_0_50"/>
          <p:cNvSpPr/>
          <p:nvPr/>
        </p:nvSpPr>
        <p:spPr>
          <a:xfrm>
            <a:off x="487825" y="932700"/>
            <a:ext cx="10992600" cy="4928400"/>
          </a:xfrm>
          <a:prstGeom prst="rect">
            <a:avLst/>
          </a:prstGeom>
          <a:noFill/>
          <a:ln>
            <a:noFill/>
          </a:ln>
        </p:spPr>
        <p:txBody>
          <a:bodyPr anchorCtr="0" anchor="t" bIns="750" lIns="750" spcFirstLastPara="1" rIns="750" wrap="square" tIns="750">
            <a:noAutofit/>
          </a:bodyPr>
          <a:lstStyle/>
          <a:p>
            <a:pPr indent="0" lvl="0" marL="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Adoption of machine learning systems in actual healthcare processes is one of the primary challenges.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Majority of models are trained/evaluated in controlled benchmarks rather than clinical environment.</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Limitations in interpretability and explainability aspects of DS/ ML models.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Lack of clinical validation in real healthcare settings.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Sparse integration of multimodal data (imaging + clinical + genomics).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Generalizability remains a major concern due to dataset shift across institutions, scanners, and patient populations, especially in radiomics studies.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Performance can vary with preprocessing, feature extraction choices, and class imbalance handling.</a:t>
            </a:r>
            <a:endParaRPr sz="1950">
              <a:solidFill>
                <a:srgbClr val="1F2430"/>
              </a:solidFill>
            </a:endParaRPr>
          </a:p>
        </p:txBody>
      </p:sp>
      <p:pic>
        <p:nvPicPr>
          <p:cNvPr descr="/mnt/data/template_logo.png" id="56" name="Google Shape;56;g3d62a2c1f65_0_50"/>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d62a2c1f65_0_66"/>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Research Gaps</a:t>
            </a:r>
            <a:endParaRPr sz="2800">
              <a:solidFill>
                <a:schemeClr val="dk1"/>
              </a:solidFill>
              <a:latin typeface="Arial"/>
              <a:ea typeface="Arial"/>
              <a:cs typeface="Arial"/>
              <a:sym typeface="Arial"/>
            </a:endParaRPr>
          </a:p>
        </p:txBody>
      </p:sp>
      <p:cxnSp>
        <p:nvCxnSpPr>
          <p:cNvPr id="63" name="Google Shape;63;g3d62a2c1f65_0_66"/>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64" name="Google Shape;64;g3d62a2c1f65_0_66"/>
          <p:cNvSpPr/>
          <p:nvPr/>
        </p:nvSpPr>
        <p:spPr>
          <a:xfrm>
            <a:off x="487825" y="1473925"/>
            <a:ext cx="10992600" cy="43872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950">
                <a:solidFill>
                  <a:srgbClr val="1F2430"/>
                </a:solidFill>
              </a:rPr>
              <a:t>Most studies focus on model performance metrics such as accuracy, F1-score, precision, and recall.</a:t>
            </a:r>
            <a:endParaRPr sz="1950">
              <a:solidFill>
                <a:srgbClr val="1F2430"/>
              </a:solidFill>
            </a:endParaRPr>
          </a:p>
          <a:p>
            <a:pPr indent="0" lvl="0" marL="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Font typeface="Arial"/>
              <a:buChar char="•"/>
            </a:pPr>
            <a:r>
              <a:rPr lang="en-US" sz="1950">
                <a:solidFill>
                  <a:srgbClr val="1F2430"/>
                </a:solidFill>
              </a:rPr>
              <a:t>There is limited research in the evaluation of XAI in ensemble models.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This project uses a voting ensemble to compare the explanation agreement analysis of the Random Forest feature importance and the SHAP XAI models.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We also try to </a:t>
            </a:r>
            <a:r>
              <a:rPr lang="en-US" sz="1950">
                <a:solidFill>
                  <a:srgbClr val="1F2430"/>
                </a:solidFill>
              </a:rPr>
              <a:t>understand if </a:t>
            </a:r>
            <a:r>
              <a:rPr lang="en-US" sz="1950">
                <a:solidFill>
                  <a:srgbClr val="1F2430"/>
                </a:solidFill>
              </a:rPr>
              <a:t>different explainability methods agree on what features matter.</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We evaluated whether explanations are consistent across methods, and identified stable biomarkers in breast cancer diagnosis.</a:t>
            </a:r>
            <a:endParaRPr sz="1950">
              <a:solidFill>
                <a:srgbClr val="1F2430"/>
              </a:solidFill>
            </a:endParaRPr>
          </a:p>
        </p:txBody>
      </p:sp>
      <p:pic>
        <p:nvPicPr>
          <p:cNvPr descr="/mnt/data/template_logo.png" id="65" name="Google Shape;65;g3d62a2c1f65_0_66"/>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3d62a2c1f65_0_42"/>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Literature Review</a:t>
            </a:r>
            <a:endParaRPr sz="2800">
              <a:solidFill>
                <a:schemeClr val="dk1"/>
              </a:solidFill>
              <a:latin typeface="Arial"/>
              <a:ea typeface="Arial"/>
              <a:cs typeface="Arial"/>
              <a:sym typeface="Arial"/>
            </a:endParaRPr>
          </a:p>
        </p:txBody>
      </p:sp>
      <p:cxnSp>
        <p:nvCxnSpPr>
          <p:cNvPr id="72" name="Google Shape;72;g3d62a2c1f65_0_42"/>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73" name="Google Shape;73;g3d62a2c1f65_0_42"/>
          <p:cNvSpPr/>
          <p:nvPr/>
        </p:nvSpPr>
        <p:spPr>
          <a:xfrm>
            <a:off x="487825" y="1473925"/>
            <a:ext cx="10992600" cy="43872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950">
                <a:solidFill>
                  <a:srgbClr val="1F2430"/>
                </a:solidFill>
              </a:rPr>
              <a:t>La Moglia &amp; Almustafa (2025) found that Logistic Regression and Light Gradient Boosting Machine (LGBM) are highly effective, with testing accuracies exceeding 91%.</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chemeClr val="dk1"/>
              </a:buClr>
              <a:buSzPts val="1950"/>
              <a:buChar char="•"/>
            </a:pPr>
            <a:r>
              <a:rPr lang="en-US" sz="1950">
                <a:solidFill>
                  <a:schemeClr val="dk1"/>
                </a:solidFill>
              </a:rPr>
              <a:t>CNN and other deep learning methods can be more effective compared to traditional algorithms, such as SVM. (Reddy et al., 2024; Ghantasala et al., 2023)</a:t>
            </a:r>
            <a:endParaRPr sz="1950">
              <a:solidFill>
                <a:schemeClr val="dk1"/>
              </a:solidFill>
            </a:endParaRPr>
          </a:p>
          <a:p>
            <a:pPr indent="0" lvl="0" marL="457200" marR="0" rtl="0" algn="l">
              <a:spcBef>
                <a:spcPts val="0"/>
              </a:spcBef>
              <a:spcAft>
                <a:spcPts val="0"/>
              </a:spcAft>
              <a:buNone/>
            </a:pPr>
            <a:r>
              <a:t/>
            </a:r>
            <a:endParaRPr sz="1950">
              <a:solidFill>
                <a:schemeClr val="dk1"/>
              </a:solidFill>
            </a:endParaRPr>
          </a:p>
          <a:p>
            <a:pPr indent="-196850" lvl="0" marL="177800" marR="0" rtl="0" algn="l">
              <a:spcBef>
                <a:spcPts val="0"/>
              </a:spcBef>
              <a:spcAft>
                <a:spcPts val="0"/>
              </a:spcAft>
              <a:buClr>
                <a:schemeClr val="dk1"/>
              </a:buClr>
              <a:buSzPts val="1950"/>
              <a:buChar char="•"/>
            </a:pPr>
            <a:r>
              <a:rPr lang="en-US" sz="1950">
                <a:solidFill>
                  <a:schemeClr val="dk1"/>
                </a:solidFill>
              </a:rPr>
              <a:t>Ensemble and hybrid models can also be utilized to improve predictive accuracy and diagnostic assistance (Reddy et al., 2024; Ghantasala et al., 2023; Ahmed et al., 2025; Edafetanure-Ibeh et al., 2025; Brunyé et al., 2024).</a:t>
            </a:r>
            <a:endParaRPr sz="1950">
              <a:solidFill>
                <a:schemeClr val="dk1"/>
              </a:solidFill>
            </a:endParaRPr>
          </a:p>
          <a:p>
            <a:pPr indent="-196850" lvl="0" marL="177800" marR="0" rtl="0" algn="l">
              <a:spcBef>
                <a:spcPts val="0"/>
              </a:spcBef>
              <a:spcAft>
                <a:spcPts val="0"/>
              </a:spcAft>
              <a:buClr>
                <a:schemeClr val="dk1"/>
              </a:buClr>
              <a:buSzPts val="1950"/>
              <a:buChar char="•"/>
            </a:pPr>
            <a:r>
              <a:t/>
            </a:r>
            <a:endParaRPr sz="1950">
              <a:solidFill>
                <a:schemeClr val="dk1"/>
              </a:solidFill>
            </a:endParaRPr>
          </a:p>
        </p:txBody>
      </p:sp>
      <p:pic>
        <p:nvPicPr>
          <p:cNvPr descr="/mnt/data/template_logo.png" id="74" name="Google Shape;74;g3d62a2c1f65_0_42"/>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d62a2c1f65_0_58"/>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Research Questions</a:t>
            </a:r>
            <a:r>
              <a:rPr b="1" lang="en-US" sz="2800">
                <a:solidFill>
                  <a:srgbClr val="0B1F5B"/>
                </a:solidFill>
              </a:rPr>
              <a:t> </a:t>
            </a:r>
            <a:endParaRPr sz="2800">
              <a:solidFill>
                <a:schemeClr val="dk1"/>
              </a:solidFill>
              <a:latin typeface="Arial"/>
              <a:ea typeface="Arial"/>
              <a:cs typeface="Arial"/>
              <a:sym typeface="Arial"/>
            </a:endParaRPr>
          </a:p>
        </p:txBody>
      </p:sp>
      <p:cxnSp>
        <p:nvCxnSpPr>
          <p:cNvPr id="81" name="Google Shape;81;g3d62a2c1f65_0_58"/>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82" name="Google Shape;82;g3d62a2c1f65_0_58"/>
          <p:cNvSpPr/>
          <p:nvPr/>
        </p:nvSpPr>
        <p:spPr>
          <a:xfrm>
            <a:off x="561550" y="1235400"/>
            <a:ext cx="10992600" cy="4625700"/>
          </a:xfrm>
          <a:prstGeom prst="rect">
            <a:avLst/>
          </a:prstGeom>
          <a:noFill/>
          <a:ln>
            <a:noFill/>
          </a:ln>
        </p:spPr>
        <p:txBody>
          <a:bodyPr anchorCtr="0" anchor="t" bIns="750" lIns="750" spcFirstLastPara="1" rIns="750" wrap="square" tIns="750">
            <a:noAutofit/>
          </a:bodyPr>
          <a:lstStyle/>
          <a:p>
            <a:pPr indent="-196850" lvl="0" marL="177800" marR="0" rtl="0" algn="l">
              <a:spcBef>
                <a:spcPts val="0"/>
              </a:spcBef>
              <a:spcAft>
                <a:spcPts val="0"/>
              </a:spcAft>
              <a:buClr>
                <a:srgbClr val="1F2430"/>
              </a:buClr>
              <a:buSzPts val="1950"/>
              <a:buFont typeface="Arial"/>
              <a:buChar char="•"/>
            </a:pPr>
            <a:r>
              <a:rPr lang="en-US" sz="1950">
                <a:solidFill>
                  <a:srgbClr val="1F2430"/>
                </a:solidFill>
              </a:rPr>
              <a:t>What ensemble machine learning methods help improve predictive accuracy of breast cancer diagnosis using the Wisconsin Breast Cancer dataset?</a:t>
            </a:r>
            <a:endParaRPr sz="1950">
              <a:solidFill>
                <a:srgbClr val="1F2430"/>
              </a:solidFill>
            </a:endParaRPr>
          </a:p>
          <a:p>
            <a:pPr indent="0" lvl="0" marL="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Does an ensemble model improve classification performance compared to individual models?</a:t>
            </a:r>
            <a:endParaRPr sz="1950">
              <a:solidFill>
                <a:srgbClr val="1F2430"/>
              </a:solidFill>
            </a:endParaRPr>
          </a:p>
          <a:p>
            <a:pPr indent="0" lvl="0" marL="45720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rgbClr val="1F2430"/>
              </a:buClr>
              <a:buSzPts val="1950"/>
              <a:buChar char="•"/>
            </a:pPr>
            <a:r>
              <a:rPr lang="en-US" sz="1950">
                <a:solidFill>
                  <a:srgbClr val="1F2430"/>
                </a:solidFill>
              </a:rPr>
              <a:t>What combination of ensemble methods with explainable AI (XAI) can improve breast cancer prediction and interpretability?</a:t>
            </a:r>
            <a:endParaRPr sz="1950">
              <a:solidFill>
                <a:srgbClr val="1F2430"/>
              </a:solidFill>
            </a:endParaRPr>
          </a:p>
          <a:p>
            <a:pPr indent="0" lvl="0" marL="0" marR="0" rtl="0" algn="l">
              <a:spcBef>
                <a:spcPts val="0"/>
              </a:spcBef>
              <a:spcAft>
                <a:spcPts val="0"/>
              </a:spcAft>
              <a:buNone/>
            </a:pPr>
            <a:r>
              <a:t/>
            </a:r>
            <a:endParaRPr sz="1950">
              <a:solidFill>
                <a:srgbClr val="1F2430"/>
              </a:solidFill>
            </a:endParaRPr>
          </a:p>
          <a:p>
            <a:pPr indent="-196850" lvl="0" marL="177800" marR="0" rtl="0" algn="l">
              <a:spcBef>
                <a:spcPts val="0"/>
              </a:spcBef>
              <a:spcAft>
                <a:spcPts val="0"/>
              </a:spcAft>
              <a:buClr>
                <a:schemeClr val="dk1"/>
              </a:buClr>
              <a:buSzPts val="1950"/>
              <a:buChar char="•"/>
            </a:pPr>
            <a:r>
              <a:rPr lang="en-US" sz="1950">
                <a:solidFill>
                  <a:schemeClr val="dk1"/>
                </a:solidFill>
              </a:rPr>
              <a:t>Which features are consistently identified as important across different XAI methods?</a:t>
            </a:r>
            <a:endParaRPr sz="1950">
              <a:solidFill>
                <a:schemeClr val="dk1"/>
              </a:solidFill>
            </a:endParaRPr>
          </a:p>
          <a:p>
            <a:pPr indent="0" lvl="0" marL="457200" marR="0" rtl="0" algn="l">
              <a:spcBef>
                <a:spcPts val="0"/>
              </a:spcBef>
              <a:spcAft>
                <a:spcPts val="0"/>
              </a:spcAft>
              <a:buNone/>
            </a:pPr>
            <a:r>
              <a:t/>
            </a:r>
            <a:endParaRPr sz="1950">
              <a:solidFill>
                <a:schemeClr val="dk1"/>
              </a:solidFill>
            </a:endParaRPr>
          </a:p>
          <a:p>
            <a:pPr indent="-196850" lvl="0" marL="177800" marR="0" rtl="0" algn="l">
              <a:spcBef>
                <a:spcPts val="0"/>
              </a:spcBef>
              <a:spcAft>
                <a:spcPts val="0"/>
              </a:spcAft>
              <a:buClr>
                <a:schemeClr val="dk1"/>
              </a:buClr>
              <a:buSzPts val="1950"/>
              <a:buChar char="•"/>
            </a:pPr>
            <a:r>
              <a:rPr lang="en-US" sz="1950">
                <a:solidFill>
                  <a:schemeClr val="dk1"/>
                </a:solidFill>
              </a:rPr>
              <a:t>Do different explanation techniques agree on feature importance?</a:t>
            </a:r>
            <a:endParaRPr sz="1950">
              <a:solidFill>
                <a:schemeClr val="dk1"/>
              </a:solidFill>
            </a:endParaRPr>
          </a:p>
          <a:p>
            <a:pPr indent="0" lvl="0" marL="457200" marR="0" rtl="0" algn="l">
              <a:spcBef>
                <a:spcPts val="0"/>
              </a:spcBef>
              <a:spcAft>
                <a:spcPts val="0"/>
              </a:spcAft>
              <a:buNone/>
            </a:pPr>
            <a:r>
              <a:t/>
            </a:r>
            <a:endParaRPr sz="1950">
              <a:solidFill>
                <a:schemeClr val="dk1"/>
              </a:solidFill>
            </a:endParaRPr>
          </a:p>
          <a:p>
            <a:pPr indent="-196850" lvl="0" marL="177800" marR="0" rtl="0" algn="l">
              <a:spcBef>
                <a:spcPts val="0"/>
              </a:spcBef>
              <a:spcAft>
                <a:spcPts val="0"/>
              </a:spcAft>
              <a:buClr>
                <a:schemeClr val="dk1"/>
              </a:buClr>
              <a:buSzPts val="1950"/>
              <a:buChar char="•"/>
            </a:pPr>
            <a:r>
              <a:rPr lang="en-US" sz="1950">
                <a:solidFill>
                  <a:schemeClr val="dk1"/>
                </a:solidFill>
              </a:rPr>
              <a:t>Can ensemble models improve breast cancer classification by combining multiple learners to reduce individual algorithm variance, bias, and noise, result in higher accuracy, and better stability than single models?</a:t>
            </a:r>
            <a:endParaRPr sz="1950">
              <a:solidFill>
                <a:schemeClr val="dk1"/>
              </a:solidFill>
            </a:endParaRPr>
          </a:p>
          <a:p>
            <a:pPr indent="0" lvl="0" marL="457200" marR="0" rtl="0" algn="l">
              <a:spcBef>
                <a:spcPts val="0"/>
              </a:spcBef>
              <a:spcAft>
                <a:spcPts val="0"/>
              </a:spcAft>
              <a:buNone/>
            </a:pPr>
            <a:r>
              <a:t/>
            </a:r>
            <a:endParaRPr sz="1950">
              <a:solidFill>
                <a:schemeClr val="dk1"/>
              </a:solidFill>
            </a:endParaRPr>
          </a:p>
        </p:txBody>
      </p:sp>
      <p:pic>
        <p:nvPicPr>
          <p:cNvPr descr="/mnt/data/template_logo.png" id="83" name="Google Shape;83;g3d62a2c1f65_0_58"/>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d62a2c1f65_0_6"/>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Data Acquisition and Inspection</a:t>
            </a:r>
            <a:endParaRPr sz="2800">
              <a:solidFill>
                <a:schemeClr val="dk1"/>
              </a:solidFill>
              <a:latin typeface="Arial"/>
              <a:ea typeface="Arial"/>
              <a:cs typeface="Arial"/>
              <a:sym typeface="Arial"/>
            </a:endParaRPr>
          </a:p>
        </p:txBody>
      </p:sp>
      <p:cxnSp>
        <p:nvCxnSpPr>
          <p:cNvPr id="90" name="Google Shape;90;g3d62a2c1f65_0_6"/>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91" name="Google Shape;91;g3d62a2c1f65_0_6"/>
          <p:cNvSpPr/>
          <p:nvPr/>
        </p:nvSpPr>
        <p:spPr>
          <a:xfrm>
            <a:off x="1056952" y="1224906"/>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Data Source</a:t>
            </a:r>
            <a:endParaRPr sz="1300">
              <a:solidFill>
                <a:schemeClr val="dk1"/>
              </a:solidFill>
              <a:latin typeface="Arial"/>
              <a:ea typeface="Arial"/>
              <a:cs typeface="Arial"/>
              <a:sym typeface="Arial"/>
            </a:endParaRPr>
          </a:p>
        </p:txBody>
      </p:sp>
      <p:sp>
        <p:nvSpPr>
          <p:cNvPr id="92" name="Google Shape;92;g3d62a2c1f65_0_6"/>
          <p:cNvSpPr/>
          <p:nvPr/>
        </p:nvSpPr>
        <p:spPr>
          <a:xfrm>
            <a:off x="487837" y="1711179"/>
            <a:ext cx="5492400" cy="2319900"/>
          </a:xfrm>
          <a:prstGeom prst="rect">
            <a:avLst/>
          </a:prstGeom>
          <a:noFill/>
          <a:ln>
            <a:noFill/>
          </a:ln>
        </p:spPr>
        <p:txBody>
          <a:bodyPr anchorCtr="0" anchor="t" bIns="750" lIns="750" spcFirstLastPara="1" rIns="750" wrap="square" tIns="750">
            <a:noAutofit/>
          </a:bodyPr>
          <a:lstStyle/>
          <a:p>
            <a:pPr indent="-177800" lvl="0" marL="177800" marR="0" rtl="0" algn="l">
              <a:spcBef>
                <a:spcPts val="0"/>
              </a:spcBef>
              <a:spcAft>
                <a:spcPts val="0"/>
              </a:spcAft>
              <a:buClr>
                <a:srgbClr val="1F2430"/>
              </a:buClr>
              <a:buSzPts val="1650"/>
              <a:buFont typeface="Arial"/>
              <a:buChar char="•"/>
            </a:pPr>
            <a:r>
              <a:rPr lang="en-US" sz="1650">
                <a:solidFill>
                  <a:srgbClr val="1F2430"/>
                </a:solidFill>
                <a:latin typeface="Arial"/>
                <a:ea typeface="Arial"/>
                <a:cs typeface="Arial"/>
                <a:sym typeface="Arial"/>
              </a:rPr>
              <a:t>Source: UCI Machine Learning Repository, Breast Cancer Wisconsin (Diagnostic).</a:t>
            </a:r>
            <a:endParaRPr sz="1650">
              <a:solidFill>
                <a:schemeClr val="dk1"/>
              </a:solidFill>
              <a:latin typeface="Arial"/>
              <a:ea typeface="Arial"/>
              <a:cs typeface="Arial"/>
              <a:sym typeface="Arial"/>
            </a:endParaRPr>
          </a:p>
          <a:p>
            <a:pPr indent="-177800" lvl="0" marL="177800" marR="0" rtl="0" algn="l">
              <a:spcBef>
                <a:spcPts val="0"/>
              </a:spcBef>
              <a:spcAft>
                <a:spcPts val="0"/>
              </a:spcAft>
              <a:buClr>
                <a:srgbClr val="1F2430"/>
              </a:buClr>
              <a:buSzPts val="1650"/>
              <a:buFont typeface="Arial"/>
              <a:buChar char="•"/>
            </a:pPr>
            <a:r>
              <a:rPr lang="en-US" sz="1650">
                <a:solidFill>
                  <a:srgbClr val="1F2430"/>
                </a:solidFill>
                <a:latin typeface="Arial"/>
                <a:ea typeface="Arial"/>
                <a:cs typeface="Arial"/>
                <a:sym typeface="Arial"/>
              </a:rPr>
              <a:t>The 30 real-valued predictors come from digitized fine needle aspirate images and describe cell nucleus characteristics.</a:t>
            </a:r>
            <a:endParaRPr sz="1650">
              <a:solidFill>
                <a:schemeClr val="dk1"/>
              </a:solidFill>
              <a:latin typeface="Arial"/>
              <a:ea typeface="Arial"/>
              <a:cs typeface="Arial"/>
              <a:sym typeface="Arial"/>
            </a:endParaRPr>
          </a:p>
          <a:p>
            <a:pPr indent="-177800" lvl="0" marL="177800" marR="0" rtl="0" algn="l">
              <a:spcBef>
                <a:spcPts val="0"/>
              </a:spcBef>
              <a:spcAft>
                <a:spcPts val="0"/>
              </a:spcAft>
              <a:buClr>
                <a:srgbClr val="1F2430"/>
              </a:buClr>
              <a:buSzPts val="1650"/>
              <a:buFont typeface="Arial"/>
              <a:buChar char="•"/>
            </a:pPr>
            <a:r>
              <a:rPr lang="en-US" sz="1650">
                <a:solidFill>
                  <a:srgbClr val="1F2430"/>
                </a:solidFill>
                <a:latin typeface="Arial"/>
                <a:ea typeface="Arial"/>
                <a:cs typeface="Arial"/>
                <a:sym typeface="Arial"/>
              </a:rPr>
              <a:t>The target is a clinically meaningful binary diagnosis label: benign (B) or malignant (M).</a:t>
            </a:r>
            <a:endParaRPr/>
          </a:p>
          <a:p>
            <a:pPr indent="-177800" lvl="0" marL="177800" marR="0" rtl="0" algn="l">
              <a:spcBef>
                <a:spcPts val="0"/>
              </a:spcBef>
              <a:spcAft>
                <a:spcPts val="0"/>
              </a:spcAft>
              <a:buClr>
                <a:srgbClr val="1F2430"/>
              </a:buClr>
              <a:buSzPts val="1650"/>
              <a:buFont typeface="Arial"/>
              <a:buChar char="•"/>
            </a:pPr>
            <a:r>
              <a:rPr lang="en-US" sz="1650">
                <a:solidFill>
                  <a:srgbClr val="1F2430"/>
                </a:solidFill>
                <a:latin typeface="Arial"/>
                <a:ea typeface="Arial"/>
                <a:cs typeface="Arial"/>
                <a:sym typeface="Arial"/>
              </a:rPr>
              <a:t>The dataset contained no missing data except one empty column</a:t>
            </a:r>
            <a:endParaRPr sz="1650">
              <a:solidFill>
                <a:schemeClr val="dk1"/>
              </a:solidFill>
              <a:latin typeface="Arial"/>
              <a:ea typeface="Arial"/>
              <a:cs typeface="Arial"/>
              <a:sym typeface="Arial"/>
            </a:endParaRPr>
          </a:p>
        </p:txBody>
      </p:sp>
      <p:pic>
        <p:nvPicPr>
          <p:cNvPr descr="/mnt/data/template_logo.png" id="93" name="Google Shape;93;g3d62a2c1f65_0_6"/>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94" name="Google Shape;94;g3d62a2c1f65_0_6"/>
          <p:cNvPicPr preferRelativeResize="0"/>
          <p:nvPr/>
        </p:nvPicPr>
        <p:blipFill rotWithShape="1">
          <a:blip r:embed="rId4">
            <a:alphaModFix/>
          </a:blip>
          <a:srcRect b="0" l="0" r="0" t="0"/>
          <a:stretch/>
        </p:blipFill>
        <p:spPr>
          <a:xfrm>
            <a:off x="6009101" y="3910059"/>
            <a:ext cx="4277899" cy="2797657"/>
          </a:xfrm>
          <a:prstGeom prst="rect">
            <a:avLst/>
          </a:prstGeom>
          <a:noFill/>
          <a:ln>
            <a:noFill/>
          </a:ln>
        </p:spPr>
      </p:pic>
      <p:sp>
        <p:nvSpPr>
          <p:cNvPr id="95" name="Google Shape;95;g3d62a2c1f65_0_6"/>
          <p:cNvSpPr/>
          <p:nvPr/>
        </p:nvSpPr>
        <p:spPr>
          <a:xfrm>
            <a:off x="6265985" y="1200460"/>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Data retrieval code snippet</a:t>
            </a:r>
            <a:endParaRPr sz="1300">
              <a:solidFill>
                <a:schemeClr val="dk1"/>
              </a:solidFill>
              <a:latin typeface="Arial"/>
              <a:ea typeface="Arial"/>
              <a:cs typeface="Arial"/>
              <a:sym typeface="Arial"/>
            </a:endParaRPr>
          </a:p>
        </p:txBody>
      </p:sp>
      <p:sp>
        <p:nvSpPr>
          <p:cNvPr id="96" name="Google Shape;96;g3d62a2c1f65_0_6"/>
          <p:cNvSpPr/>
          <p:nvPr/>
        </p:nvSpPr>
        <p:spPr>
          <a:xfrm>
            <a:off x="6398846" y="3910059"/>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Raw dataset structure</a:t>
            </a:r>
            <a:endParaRPr sz="1300">
              <a:solidFill>
                <a:schemeClr val="dk1"/>
              </a:solidFill>
              <a:latin typeface="Arial"/>
              <a:ea typeface="Arial"/>
              <a:cs typeface="Arial"/>
              <a:sym typeface="Arial"/>
            </a:endParaRPr>
          </a:p>
        </p:txBody>
      </p:sp>
      <p:pic>
        <p:nvPicPr>
          <p:cNvPr id="97" name="Google Shape;97;g3d62a2c1f65_0_6"/>
          <p:cNvPicPr preferRelativeResize="0"/>
          <p:nvPr/>
        </p:nvPicPr>
        <p:blipFill rotWithShape="1">
          <a:blip r:embed="rId5">
            <a:alphaModFix/>
          </a:blip>
          <a:srcRect b="0" l="0" r="35111" t="33106"/>
          <a:stretch/>
        </p:blipFill>
        <p:spPr>
          <a:xfrm>
            <a:off x="242104" y="4414470"/>
            <a:ext cx="6156742" cy="873015"/>
          </a:xfrm>
          <a:prstGeom prst="rect">
            <a:avLst/>
          </a:prstGeom>
          <a:noFill/>
          <a:ln>
            <a:noFill/>
          </a:ln>
        </p:spPr>
      </p:pic>
      <p:pic>
        <p:nvPicPr>
          <p:cNvPr id="98" name="Google Shape;98;g3d62a2c1f65_0_6"/>
          <p:cNvPicPr preferRelativeResize="0"/>
          <p:nvPr/>
        </p:nvPicPr>
        <p:blipFill rotWithShape="1">
          <a:blip r:embed="rId6">
            <a:alphaModFix/>
          </a:blip>
          <a:srcRect b="0" l="0" r="0" t="0"/>
          <a:stretch/>
        </p:blipFill>
        <p:spPr>
          <a:xfrm>
            <a:off x="6211825" y="1391750"/>
            <a:ext cx="5065774" cy="2403716"/>
          </a:xfrm>
          <a:prstGeom prst="rect">
            <a:avLst/>
          </a:prstGeom>
          <a:noFill/>
          <a:ln>
            <a:noFill/>
          </a:ln>
        </p:spPr>
      </p:pic>
      <p:sp>
        <p:nvSpPr>
          <p:cNvPr id="99" name="Google Shape;99;g3d62a2c1f65_0_6"/>
          <p:cNvSpPr/>
          <p:nvPr/>
        </p:nvSpPr>
        <p:spPr>
          <a:xfrm>
            <a:off x="617171" y="4195729"/>
            <a:ext cx="21030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Data Reference</a:t>
            </a:r>
            <a:endParaRPr sz="13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Feature Map and Data Dictionary</a:t>
            </a:r>
            <a:endParaRPr sz="2800">
              <a:solidFill>
                <a:schemeClr val="dk1"/>
              </a:solidFill>
              <a:latin typeface="Arial"/>
              <a:ea typeface="Arial"/>
              <a:cs typeface="Arial"/>
              <a:sym typeface="Arial"/>
            </a:endParaRPr>
          </a:p>
        </p:txBody>
      </p:sp>
      <p:cxnSp>
        <p:nvCxnSpPr>
          <p:cNvPr id="106" name="Google Shape;106;p3"/>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07" name="Google Shape;107;p3"/>
          <p:cNvSpPr/>
          <p:nvPr/>
        </p:nvSpPr>
        <p:spPr>
          <a:xfrm>
            <a:off x="6506737" y="1341690"/>
            <a:ext cx="2617372" cy="4067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Summary</a:t>
            </a:r>
            <a:endParaRPr sz="1300">
              <a:solidFill>
                <a:schemeClr val="dk1"/>
              </a:solidFill>
              <a:latin typeface="Arial"/>
              <a:ea typeface="Arial"/>
              <a:cs typeface="Arial"/>
              <a:sym typeface="Arial"/>
            </a:endParaRPr>
          </a:p>
        </p:txBody>
      </p:sp>
      <p:pic>
        <p:nvPicPr>
          <p:cNvPr descr="/mnt/data/template_logo.png" id="108" name="Google Shape;108;p3"/>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109" name="Google Shape;109;p3"/>
          <p:cNvPicPr preferRelativeResize="0"/>
          <p:nvPr/>
        </p:nvPicPr>
        <p:blipFill rotWithShape="1">
          <a:blip r:embed="rId4">
            <a:alphaModFix/>
          </a:blip>
          <a:srcRect b="0" l="0" r="12887" t="0"/>
          <a:stretch/>
        </p:blipFill>
        <p:spPr>
          <a:xfrm>
            <a:off x="1143000" y="1545049"/>
            <a:ext cx="4752975" cy="4739165"/>
          </a:xfrm>
          <a:prstGeom prst="rect">
            <a:avLst/>
          </a:prstGeom>
          <a:noFill/>
          <a:ln>
            <a:noFill/>
          </a:ln>
        </p:spPr>
      </p:pic>
      <p:sp>
        <p:nvSpPr>
          <p:cNvPr id="110" name="Google Shape;110;p3"/>
          <p:cNvSpPr/>
          <p:nvPr/>
        </p:nvSpPr>
        <p:spPr>
          <a:xfrm>
            <a:off x="1253685" y="1242332"/>
            <a:ext cx="2617372" cy="4067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Data Dictionary</a:t>
            </a:r>
            <a:endParaRPr sz="1300">
              <a:solidFill>
                <a:schemeClr val="dk1"/>
              </a:solidFill>
              <a:latin typeface="Arial"/>
              <a:ea typeface="Arial"/>
              <a:cs typeface="Arial"/>
              <a:sym typeface="Arial"/>
            </a:endParaRPr>
          </a:p>
        </p:txBody>
      </p:sp>
      <p:sp>
        <p:nvSpPr>
          <p:cNvPr id="111" name="Google Shape;111;p3"/>
          <p:cNvSpPr txBox="1"/>
          <p:nvPr/>
        </p:nvSpPr>
        <p:spPr>
          <a:xfrm>
            <a:off x="6096000" y="1760301"/>
            <a:ext cx="5600700" cy="397031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dataset contains 31 variables, including 30 numeric predictor features and 1 categorical target variable, Diagnosis.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predictor variables are biomedical tumor measurements stored as float64, while Diagnosis is stored as an object variable with labels such as M and B.</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features are organized into three groups: mean measurements, standard error measurements, and worst-case measurements.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These measurements cover important tumor characteristics such as radius, texture, perimeter, area, smoothness, compactness, concavity, concave points, symmetry, and fractal dimension.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Data Wrangling and Preprocessing</a:t>
            </a:r>
            <a:endParaRPr sz="2800">
              <a:solidFill>
                <a:schemeClr val="dk1"/>
              </a:solidFill>
              <a:latin typeface="Arial"/>
              <a:ea typeface="Arial"/>
              <a:cs typeface="Arial"/>
              <a:sym typeface="Arial"/>
            </a:endParaRPr>
          </a:p>
        </p:txBody>
      </p:sp>
      <p:cxnSp>
        <p:nvCxnSpPr>
          <p:cNvPr id="118" name="Google Shape;118;p4"/>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19" name="Google Shape;119;p4"/>
          <p:cNvSpPr/>
          <p:nvPr/>
        </p:nvSpPr>
        <p:spPr>
          <a:xfrm>
            <a:off x="1488757" y="4413285"/>
            <a:ext cx="8086725" cy="1672961"/>
          </a:xfrm>
          <a:prstGeom prst="rect">
            <a:avLst/>
          </a:prstGeom>
          <a:noFill/>
          <a:ln>
            <a:noFill/>
          </a:ln>
        </p:spPr>
        <p:txBody>
          <a:bodyPr anchorCtr="0" anchor="t" bIns="750" lIns="750" spcFirstLastPara="1" rIns="750" wrap="square" tIns="750">
            <a:noAutofit/>
          </a:bodyPr>
          <a:lstStyle/>
          <a:p>
            <a:pPr indent="-177800" lvl="0" marL="177800" marR="0" rtl="0" algn="l">
              <a:lnSpc>
                <a:spcPct val="150000"/>
              </a:lnSpc>
              <a:spcBef>
                <a:spcPts val="0"/>
              </a:spcBef>
              <a:spcAft>
                <a:spcPts val="0"/>
              </a:spcAft>
              <a:buClr>
                <a:srgbClr val="1F2430"/>
              </a:buClr>
              <a:buSzPts val="1629"/>
              <a:buFont typeface="Arial"/>
              <a:buChar char="•"/>
            </a:pPr>
            <a:r>
              <a:rPr lang="en-US" sz="1630">
                <a:solidFill>
                  <a:srgbClr val="1F2430"/>
                </a:solidFill>
                <a:latin typeface="Arial"/>
                <a:ea typeface="Arial"/>
                <a:cs typeface="Arial"/>
                <a:sym typeface="Arial"/>
              </a:rPr>
              <a:t>No imputation was needed beyond removing the fully empty column.</a:t>
            </a:r>
            <a:endParaRPr sz="1630">
              <a:solidFill>
                <a:schemeClr val="dk1"/>
              </a:solidFill>
              <a:latin typeface="Arial"/>
              <a:ea typeface="Arial"/>
              <a:cs typeface="Arial"/>
              <a:sym typeface="Arial"/>
            </a:endParaRPr>
          </a:p>
          <a:p>
            <a:pPr indent="-177800" lvl="0" marL="177800" marR="0" rtl="0" algn="l">
              <a:lnSpc>
                <a:spcPct val="150000"/>
              </a:lnSpc>
              <a:spcBef>
                <a:spcPts val="0"/>
              </a:spcBef>
              <a:spcAft>
                <a:spcPts val="0"/>
              </a:spcAft>
              <a:buClr>
                <a:srgbClr val="1F2430"/>
              </a:buClr>
              <a:buSzPts val="1629"/>
              <a:buFont typeface="Arial"/>
              <a:buChar char="•"/>
            </a:pPr>
            <a:r>
              <a:rPr lang="en-US" sz="1630">
                <a:solidFill>
                  <a:srgbClr val="1F2430"/>
                </a:solidFill>
                <a:latin typeface="Arial"/>
                <a:ea typeface="Arial"/>
                <a:cs typeface="Arial"/>
                <a:sym typeface="Arial"/>
              </a:rPr>
              <a:t>Diagnosis was converted to a categorical label for EDA and to a numeric target for later modeling.</a:t>
            </a:r>
            <a:endParaRPr sz="1630">
              <a:solidFill>
                <a:schemeClr val="dk1"/>
              </a:solidFill>
              <a:latin typeface="Arial"/>
              <a:ea typeface="Arial"/>
              <a:cs typeface="Arial"/>
              <a:sym typeface="Arial"/>
            </a:endParaRPr>
          </a:p>
          <a:p>
            <a:pPr indent="-177800" lvl="0" marL="177800" marR="0" rtl="0" algn="l">
              <a:lnSpc>
                <a:spcPct val="150000"/>
              </a:lnSpc>
              <a:spcBef>
                <a:spcPts val="0"/>
              </a:spcBef>
              <a:spcAft>
                <a:spcPts val="0"/>
              </a:spcAft>
              <a:buClr>
                <a:srgbClr val="1F2430"/>
              </a:buClr>
              <a:buSzPts val="1629"/>
              <a:buFont typeface="Arial"/>
              <a:buChar char="•"/>
            </a:pPr>
            <a:r>
              <a:rPr lang="en-US" sz="1630">
                <a:solidFill>
                  <a:srgbClr val="1F2430"/>
                </a:solidFill>
                <a:latin typeface="Arial"/>
                <a:ea typeface="Arial"/>
                <a:cs typeface="Arial"/>
                <a:sym typeface="Arial"/>
              </a:rPr>
              <a:t>The cleaned table retained all 569 patient records with no duplicate rows</a:t>
            </a:r>
            <a:endParaRPr sz="1630">
              <a:solidFill>
                <a:schemeClr val="dk1"/>
              </a:solidFill>
              <a:latin typeface="Arial"/>
              <a:ea typeface="Arial"/>
              <a:cs typeface="Arial"/>
              <a:sym typeface="Arial"/>
            </a:endParaRPr>
          </a:p>
        </p:txBody>
      </p:sp>
      <p:pic>
        <p:nvPicPr>
          <p:cNvPr descr="/mnt/data/template_logo.png" id="120" name="Google Shape;120;p4"/>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121" name="Google Shape;121;p4"/>
          <p:cNvPicPr preferRelativeResize="0"/>
          <p:nvPr/>
        </p:nvPicPr>
        <p:blipFill rotWithShape="1">
          <a:blip r:embed="rId4">
            <a:alphaModFix/>
          </a:blip>
          <a:srcRect b="15616" l="0" r="0" t="15616"/>
          <a:stretch/>
        </p:blipFill>
        <p:spPr>
          <a:xfrm>
            <a:off x="1236345" y="1286684"/>
            <a:ext cx="6755130" cy="3096905"/>
          </a:xfrm>
          <a:prstGeom prst="rect">
            <a:avLst/>
          </a:prstGeom>
          <a:noFill/>
          <a:ln>
            <a:noFill/>
          </a:ln>
        </p:spPr>
      </p:pic>
      <p:sp>
        <p:nvSpPr>
          <p:cNvPr id="122" name="Google Shape;122;p4"/>
          <p:cNvSpPr/>
          <p:nvPr/>
        </p:nvSpPr>
        <p:spPr>
          <a:xfrm>
            <a:off x="1457325" y="1076752"/>
            <a:ext cx="23774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Preprocessing steps</a:t>
            </a:r>
            <a:endParaRPr sz="13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Descriptive Summaries</a:t>
            </a:r>
            <a:endParaRPr sz="2800">
              <a:solidFill>
                <a:schemeClr val="dk1"/>
              </a:solidFill>
              <a:latin typeface="Arial"/>
              <a:ea typeface="Arial"/>
              <a:cs typeface="Arial"/>
              <a:sym typeface="Arial"/>
            </a:endParaRPr>
          </a:p>
        </p:txBody>
      </p:sp>
      <p:cxnSp>
        <p:nvCxnSpPr>
          <p:cNvPr id="129" name="Google Shape;129;p5"/>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30" name="Google Shape;130;p5"/>
          <p:cNvSpPr/>
          <p:nvPr/>
        </p:nvSpPr>
        <p:spPr>
          <a:xfrm>
            <a:off x="6324601" y="1341690"/>
            <a:ext cx="2617372" cy="4067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400"/>
              <a:buFont typeface="Arial"/>
              <a:buNone/>
            </a:pPr>
            <a:r>
              <a:rPr b="1" lang="en-US" sz="1400">
                <a:solidFill>
                  <a:srgbClr val="B78A2A"/>
                </a:solidFill>
                <a:latin typeface="Arial"/>
                <a:ea typeface="Arial"/>
                <a:cs typeface="Arial"/>
                <a:sym typeface="Arial"/>
              </a:rPr>
              <a:t>Descriptive summary </a:t>
            </a:r>
            <a:endParaRPr sz="1400">
              <a:solidFill>
                <a:schemeClr val="dk1"/>
              </a:solidFill>
              <a:latin typeface="Arial"/>
              <a:ea typeface="Arial"/>
              <a:cs typeface="Arial"/>
              <a:sym typeface="Arial"/>
            </a:endParaRPr>
          </a:p>
        </p:txBody>
      </p:sp>
      <p:sp>
        <p:nvSpPr>
          <p:cNvPr id="131" name="Google Shape;131;p5"/>
          <p:cNvSpPr/>
          <p:nvPr/>
        </p:nvSpPr>
        <p:spPr>
          <a:xfrm>
            <a:off x="5988480" y="1757315"/>
            <a:ext cx="5395703" cy="4753213"/>
          </a:xfrm>
          <a:prstGeom prst="rect">
            <a:avLst/>
          </a:prstGeom>
          <a:noFill/>
          <a:ln>
            <a:noFill/>
          </a:ln>
        </p:spPr>
        <p:txBody>
          <a:bodyPr anchorCtr="0" anchor="t" bIns="750" lIns="750" spcFirstLastPara="1" rIns="750" wrap="square" tIns="75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Some variables show substantial variation in scale. For example, features such as area1 and area3 have much larger mean values and standard deviations than variables like fractal_dimension1 and fractal_dimension3, which indicates that the dataset contains measurements recorded on very different numeric ranges.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A comparison of the mean and median suggests that several features are slightly right-skewed. This is especially noticeable in variables such as area1, area2, area3, concavity3, and compactness3, where the mean is higher than the median, suggesting the presence of larger values pulling the average upward. The wide gaps between minimum and maximum values also point to possible outliers in features like radius3, perimeter3, and area3.</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The quartiles further show that some variables are more tightly clustered, while others are more spread out. For instance, smoothness1 and fractal_dimension1 appear relatively stable, whereas size-related features such as radius, perimeter, and area show much broader dispersion. </a:t>
            </a:r>
            <a:endParaRPr/>
          </a:p>
        </p:txBody>
      </p:sp>
      <p:pic>
        <p:nvPicPr>
          <p:cNvPr descr="/mnt/data/template_logo.png" id="132" name="Google Shape;132;p5"/>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133" name="Google Shape;133;p5"/>
          <p:cNvPicPr preferRelativeResize="0"/>
          <p:nvPr/>
        </p:nvPicPr>
        <p:blipFill rotWithShape="1">
          <a:blip r:embed="rId4">
            <a:alphaModFix/>
          </a:blip>
          <a:srcRect b="0" l="0" r="6602" t="0"/>
          <a:stretch/>
        </p:blipFill>
        <p:spPr>
          <a:xfrm>
            <a:off x="1012445" y="1062196"/>
            <a:ext cx="4854956" cy="53660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Outlier Detection (IQR and Z-Score Method)</a:t>
            </a:r>
            <a:endParaRPr sz="2800">
              <a:solidFill>
                <a:schemeClr val="dk1"/>
              </a:solidFill>
              <a:latin typeface="Arial"/>
              <a:ea typeface="Arial"/>
              <a:cs typeface="Arial"/>
              <a:sym typeface="Arial"/>
            </a:endParaRPr>
          </a:p>
        </p:txBody>
      </p:sp>
      <p:cxnSp>
        <p:nvCxnSpPr>
          <p:cNvPr id="140" name="Google Shape;140;p6"/>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pic>
        <p:nvPicPr>
          <p:cNvPr descr="/mnt/data/notebook_assets/cell_13_0.png" id="141" name="Google Shape;141;p6"/>
          <p:cNvPicPr preferRelativeResize="0"/>
          <p:nvPr/>
        </p:nvPicPr>
        <p:blipFill rotWithShape="1">
          <a:blip r:embed="rId3">
            <a:alphaModFix/>
          </a:blip>
          <a:srcRect b="0" l="0" r="0" t="0"/>
          <a:stretch/>
        </p:blipFill>
        <p:spPr>
          <a:xfrm>
            <a:off x="5143500" y="1452616"/>
            <a:ext cx="6492240" cy="1421378"/>
          </a:xfrm>
          <a:prstGeom prst="rect">
            <a:avLst/>
          </a:prstGeom>
          <a:noFill/>
          <a:ln>
            <a:noFill/>
          </a:ln>
        </p:spPr>
      </p:pic>
      <p:sp>
        <p:nvSpPr>
          <p:cNvPr id="142" name="Google Shape;142;p6"/>
          <p:cNvSpPr/>
          <p:nvPr/>
        </p:nvSpPr>
        <p:spPr>
          <a:xfrm>
            <a:off x="1143000" y="3911329"/>
            <a:ext cx="14630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600"/>
              <a:buFont typeface="Arial"/>
              <a:buNone/>
            </a:pPr>
            <a:r>
              <a:rPr b="1" lang="en-US" sz="1600">
                <a:solidFill>
                  <a:srgbClr val="B78A2A"/>
                </a:solidFill>
                <a:latin typeface="Arial"/>
                <a:ea typeface="Arial"/>
                <a:cs typeface="Arial"/>
                <a:sym typeface="Arial"/>
              </a:rPr>
              <a:t>Interpretation</a:t>
            </a:r>
            <a:endParaRPr sz="1300">
              <a:solidFill>
                <a:schemeClr val="dk1"/>
              </a:solidFill>
              <a:latin typeface="Arial"/>
              <a:ea typeface="Arial"/>
              <a:cs typeface="Arial"/>
              <a:sym typeface="Arial"/>
            </a:endParaRPr>
          </a:p>
        </p:txBody>
      </p:sp>
      <p:sp>
        <p:nvSpPr>
          <p:cNvPr id="143" name="Google Shape;143;p6"/>
          <p:cNvSpPr/>
          <p:nvPr/>
        </p:nvSpPr>
        <p:spPr>
          <a:xfrm>
            <a:off x="1143000" y="4199091"/>
            <a:ext cx="10058400" cy="2658909"/>
          </a:xfrm>
          <a:prstGeom prst="rect">
            <a:avLst/>
          </a:prstGeom>
          <a:noFill/>
          <a:ln>
            <a:noFill/>
          </a:ln>
        </p:spPr>
        <p:txBody>
          <a:bodyPr anchorCtr="0" anchor="t" bIns="750" lIns="750" spcFirstLastPara="1" rIns="750" wrap="square" tIns="750">
            <a:noAutofit/>
          </a:bodyPr>
          <a:lstStyle/>
          <a:p>
            <a:pPr indent="-190500" lvl="0" marL="190500" marR="0" rtl="0" algn="l">
              <a:spcBef>
                <a:spcPts val="0"/>
              </a:spcBef>
              <a:spcAft>
                <a:spcPts val="0"/>
              </a:spcAft>
              <a:buClr>
                <a:srgbClr val="1F2430"/>
              </a:buClr>
              <a:buSzPts val="1620"/>
              <a:buFont typeface="Arial"/>
              <a:buChar char="•"/>
            </a:pPr>
            <a:r>
              <a:rPr lang="en-US" sz="1620">
                <a:solidFill>
                  <a:srgbClr val="1F2430"/>
                </a:solidFill>
                <a:latin typeface="Arial"/>
                <a:ea typeface="Arial"/>
                <a:cs typeface="Arial"/>
                <a:sym typeface="Arial"/>
              </a:rPr>
              <a:t>The affected variables are mostly size and boundary-shape measures, which are plausible markers of malignancy rather than obvious data entry errors.</a:t>
            </a:r>
            <a:endParaRPr/>
          </a:p>
          <a:p>
            <a:pPr indent="-87630" lvl="0" marL="190500" marR="0" rtl="0" algn="l">
              <a:spcBef>
                <a:spcPts val="0"/>
              </a:spcBef>
              <a:spcAft>
                <a:spcPts val="0"/>
              </a:spcAft>
              <a:buClr>
                <a:schemeClr val="dk1"/>
              </a:buClr>
              <a:buSzPts val="1620"/>
              <a:buFont typeface="Arial"/>
              <a:buNone/>
            </a:pPr>
            <a:r>
              <a:t/>
            </a:r>
            <a:endParaRPr sz="1620">
              <a:solidFill>
                <a:srgbClr val="1F2430"/>
              </a:solidFill>
              <a:latin typeface="Arial"/>
              <a:ea typeface="Arial"/>
              <a:cs typeface="Arial"/>
              <a:sym typeface="Arial"/>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Area2 stands out the most, with the highest IQR outlier count at 65 cases, followed by perimeter2 and radius2 with 38 cases each, which suggests that several size-related features contain unusually extreme values.</a:t>
            </a:r>
            <a:endParaRPr/>
          </a:p>
          <a:p>
            <a:pPr indent="-87630" lvl="0" marL="190500" marR="0" rtl="0" algn="l">
              <a:spcBef>
                <a:spcPts val="0"/>
              </a:spcBef>
              <a:spcAft>
                <a:spcPts val="0"/>
              </a:spcAft>
              <a:buClr>
                <a:schemeClr val="dk1"/>
              </a:buClr>
              <a:buSzPts val="1620"/>
              <a:buFont typeface="Arial"/>
              <a:buNone/>
            </a:pPr>
            <a:r>
              <a:t/>
            </a:r>
            <a:endParaRPr sz="1620">
              <a:solidFill>
                <a:schemeClr val="dk1"/>
              </a:solidFill>
              <a:latin typeface="Arial"/>
              <a:ea typeface="Arial"/>
              <a:cs typeface="Arial"/>
              <a:sym typeface="Arial"/>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In general, the IQR method identifies more outliers than the Z-score method across most features, indicating that the dataset may contain skewed distributions or moderately extreme observations that the stricter Z-score method captures less often.</a:t>
            </a:r>
            <a:endParaRPr/>
          </a:p>
        </p:txBody>
      </p:sp>
      <p:pic>
        <p:nvPicPr>
          <p:cNvPr descr="/mnt/data/template_logo.png" id="144" name="Google Shape;144;p6"/>
          <p:cNvPicPr preferRelativeResize="0"/>
          <p:nvPr/>
        </p:nvPicPr>
        <p:blipFill rotWithShape="1">
          <a:blip r:embed="rId4">
            <a:alphaModFix/>
          </a:blip>
          <a:srcRect b="0" l="0" r="0" t="0"/>
          <a:stretch/>
        </p:blipFill>
        <p:spPr>
          <a:xfrm>
            <a:off x="320040" y="5925312"/>
            <a:ext cx="822960" cy="717804"/>
          </a:xfrm>
          <a:prstGeom prst="rect">
            <a:avLst/>
          </a:prstGeom>
          <a:noFill/>
          <a:ln>
            <a:noFill/>
          </a:ln>
        </p:spPr>
      </p:pic>
      <p:pic>
        <p:nvPicPr>
          <p:cNvPr id="145" name="Google Shape;145;p6"/>
          <p:cNvPicPr preferRelativeResize="0"/>
          <p:nvPr/>
        </p:nvPicPr>
        <p:blipFill rotWithShape="1">
          <a:blip r:embed="rId5">
            <a:alphaModFix/>
          </a:blip>
          <a:srcRect b="0" l="0" r="10913" t="0"/>
          <a:stretch/>
        </p:blipFill>
        <p:spPr>
          <a:xfrm>
            <a:off x="731520" y="1124163"/>
            <a:ext cx="4316730" cy="27188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Outlier Treatment</a:t>
            </a:r>
            <a:endParaRPr sz="2800">
              <a:solidFill>
                <a:schemeClr val="dk1"/>
              </a:solidFill>
              <a:latin typeface="Arial"/>
              <a:ea typeface="Arial"/>
              <a:cs typeface="Arial"/>
              <a:sym typeface="Arial"/>
            </a:endParaRPr>
          </a:p>
        </p:txBody>
      </p:sp>
      <p:cxnSp>
        <p:nvCxnSpPr>
          <p:cNvPr id="152" name="Google Shape;152;p7"/>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53" name="Google Shape;153;p7"/>
          <p:cNvSpPr/>
          <p:nvPr/>
        </p:nvSpPr>
        <p:spPr>
          <a:xfrm>
            <a:off x="1143000" y="4429668"/>
            <a:ext cx="14630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Rationale</a:t>
            </a:r>
            <a:endParaRPr sz="1300">
              <a:solidFill>
                <a:schemeClr val="dk1"/>
              </a:solidFill>
              <a:latin typeface="Arial"/>
              <a:ea typeface="Arial"/>
              <a:cs typeface="Arial"/>
              <a:sym typeface="Arial"/>
            </a:endParaRPr>
          </a:p>
        </p:txBody>
      </p:sp>
      <p:sp>
        <p:nvSpPr>
          <p:cNvPr id="154" name="Google Shape;154;p7"/>
          <p:cNvSpPr/>
          <p:nvPr/>
        </p:nvSpPr>
        <p:spPr>
          <a:xfrm>
            <a:off x="1417320" y="4703989"/>
            <a:ext cx="9921240" cy="1874521"/>
          </a:xfrm>
          <a:prstGeom prst="rect">
            <a:avLst/>
          </a:prstGeom>
          <a:noFill/>
          <a:ln>
            <a:noFill/>
          </a:ln>
        </p:spPr>
        <p:txBody>
          <a:bodyPr anchorCtr="0" anchor="t" bIns="750" lIns="750" spcFirstLastPara="1" rIns="750" wrap="square" tIns="750">
            <a:noAutofit/>
          </a:bodyPr>
          <a:lstStyle/>
          <a:p>
            <a:pPr indent="-190500" lvl="0" marL="190500" marR="0" rtl="0" algn="l">
              <a:spcBef>
                <a:spcPts val="0"/>
              </a:spcBef>
              <a:spcAft>
                <a:spcPts val="0"/>
              </a:spcAft>
              <a:buClr>
                <a:srgbClr val="1F2430"/>
              </a:buClr>
              <a:buSzPts val="1620"/>
              <a:buFont typeface="Arial"/>
              <a:buChar char="•"/>
            </a:pPr>
            <a:r>
              <a:rPr lang="en-US" sz="1620">
                <a:solidFill>
                  <a:srgbClr val="1F2430"/>
                </a:solidFill>
                <a:latin typeface="Arial"/>
                <a:ea typeface="Arial"/>
                <a:cs typeface="Arial"/>
                <a:sym typeface="Arial"/>
              </a:rPr>
              <a:t>To avoid discarding clinically informative records, the notebook capped predictor values to IQR limits instead of deleting rows; the worst-affected features fell to zero post-cap IQR outliers.</a:t>
            </a:r>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Because the dataset is relatively small, extreme values may represent real malignant cases rather than errors.</a:t>
            </a:r>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All observations were retained to avoid losing potentially important clinical information.</a:t>
            </a:r>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Instead of removing rows, numeric predictors were winsorized using IQR-based caps.</a:t>
            </a:r>
            <a:endParaRPr/>
          </a:p>
          <a:p>
            <a:pPr indent="-190500" lvl="0" marL="1905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This approach reduced the influence of extreme values while preserving all patient records.</a:t>
            </a:r>
            <a:endParaRPr/>
          </a:p>
        </p:txBody>
      </p:sp>
      <p:pic>
        <p:nvPicPr>
          <p:cNvPr descr="/mnt/data/template_logo.png" id="155" name="Google Shape;155;p7"/>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156" name="Google Shape;156;p7"/>
          <p:cNvPicPr preferRelativeResize="0"/>
          <p:nvPr/>
        </p:nvPicPr>
        <p:blipFill rotWithShape="1">
          <a:blip r:embed="rId4">
            <a:alphaModFix/>
          </a:blip>
          <a:srcRect b="0" l="0" r="0" t="0"/>
          <a:stretch/>
        </p:blipFill>
        <p:spPr>
          <a:xfrm>
            <a:off x="1664970" y="1503974"/>
            <a:ext cx="6050280" cy="2775416"/>
          </a:xfrm>
          <a:prstGeom prst="rect">
            <a:avLst/>
          </a:prstGeom>
          <a:noFill/>
          <a:ln>
            <a:noFill/>
          </a:ln>
        </p:spPr>
      </p:pic>
      <p:sp>
        <p:nvSpPr>
          <p:cNvPr id="157" name="Google Shape;157;p7"/>
          <p:cNvSpPr/>
          <p:nvPr/>
        </p:nvSpPr>
        <p:spPr>
          <a:xfrm>
            <a:off x="1143000" y="1108603"/>
            <a:ext cx="2838450" cy="2307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Outlier analysis after treatment</a:t>
            </a:r>
            <a:endParaRPr sz="13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Feature Engineering and Scaling</a:t>
            </a:r>
            <a:endParaRPr sz="2800">
              <a:solidFill>
                <a:schemeClr val="dk1"/>
              </a:solidFill>
              <a:latin typeface="Arial"/>
              <a:ea typeface="Arial"/>
              <a:cs typeface="Arial"/>
              <a:sym typeface="Arial"/>
            </a:endParaRPr>
          </a:p>
        </p:txBody>
      </p:sp>
      <p:cxnSp>
        <p:nvCxnSpPr>
          <p:cNvPr id="164" name="Google Shape;164;p8"/>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65" name="Google Shape;165;p8"/>
          <p:cNvSpPr/>
          <p:nvPr/>
        </p:nvSpPr>
        <p:spPr>
          <a:xfrm>
            <a:off x="1442085" y="3188271"/>
            <a:ext cx="260985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Final scaled dataset preview</a:t>
            </a:r>
            <a:endParaRPr sz="1300">
              <a:solidFill>
                <a:schemeClr val="dk1"/>
              </a:solidFill>
              <a:latin typeface="Arial"/>
              <a:ea typeface="Arial"/>
              <a:cs typeface="Arial"/>
              <a:sym typeface="Arial"/>
            </a:endParaRPr>
          </a:p>
        </p:txBody>
      </p:sp>
      <p:sp>
        <p:nvSpPr>
          <p:cNvPr id="166" name="Google Shape;166;p8"/>
          <p:cNvSpPr/>
          <p:nvPr/>
        </p:nvSpPr>
        <p:spPr>
          <a:xfrm>
            <a:off x="1564957" y="5120456"/>
            <a:ext cx="8985885" cy="1332640"/>
          </a:xfrm>
          <a:prstGeom prst="rect">
            <a:avLst/>
          </a:prstGeom>
          <a:noFill/>
          <a:ln>
            <a:noFill/>
          </a:ln>
        </p:spPr>
        <p:txBody>
          <a:bodyPr anchorCtr="0" anchor="t" bIns="750" lIns="750" spcFirstLastPara="1" rIns="750" wrap="square" tIns="750">
            <a:noAutofit/>
          </a:bodyPr>
          <a:lstStyle/>
          <a:p>
            <a:pPr indent="-177800" lvl="0" marL="1778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RobustScaler was selected because it scales features using the median and interquartile range rather than the mean and standard deviation. </a:t>
            </a:r>
            <a:endParaRPr/>
          </a:p>
          <a:p>
            <a:pPr indent="-177800" lvl="0" marL="1778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This makes it a strong choice for a biomedical dataset like this one, where some variables remain skewed even after outlier capping. </a:t>
            </a:r>
            <a:endParaRPr/>
          </a:p>
          <a:p>
            <a:pPr indent="-177800" lvl="0" marL="177800" marR="0" rtl="0" algn="l">
              <a:spcBef>
                <a:spcPts val="0"/>
              </a:spcBef>
              <a:spcAft>
                <a:spcPts val="0"/>
              </a:spcAft>
              <a:buClr>
                <a:schemeClr val="dk1"/>
              </a:buClr>
              <a:buSzPts val="1620"/>
              <a:buFont typeface="Arial"/>
              <a:buChar char="•"/>
            </a:pPr>
            <a:r>
              <a:rPr lang="en-US" sz="1620">
                <a:solidFill>
                  <a:schemeClr val="dk1"/>
                </a:solidFill>
                <a:latin typeface="Arial"/>
                <a:ea typeface="Arial"/>
                <a:cs typeface="Arial"/>
                <a:sym typeface="Arial"/>
              </a:rPr>
              <a:t>It is more stable than MinMaxScaler or StandardScaler when extreme values are present.</a:t>
            </a:r>
            <a:endParaRPr/>
          </a:p>
          <a:p>
            <a:pPr indent="-74930" lvl="0" marL="177800" marR="0" rtl="0" algn="l">
              <a:spcBef>
                <a:spcPts val="0"/>
              </a:spcBef>
              <a:spcAft>
                <a:spcPts val="0"/>
              </a:spcAft>
              <a:buClr>
                <a:schemeClr val="dk1"/>
              </a:buClr>
              <a:buSzPts val="1620"/>
              <a:buFont typeface="Arial"/>
              <a:buNone/>
            </a:pPr>
            <a:r>
              <a:t/>
            </a:r>
            <a:endParaRPr sz="1620">
              <a:solidFill>
                <a:schemeClr val="dk1"/>
              </a:solidFill>
              <a:latin typeface="Arial"/>
              <a:ea typeface="Arial"/>
              <a:cs typeface="Arial"/>
              <a:sym typeface="Arial"/>
            </a:endParaRPr>
          </a:p>
        </p:txBody>
      </p:sp>
      <p:pic>
        <p:nvPicPr>
          <p:cNvPr descr="/mnt/data/template_logo.png" id="167" name="Google Shape;167;p8"/>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68" name="Google Shape;168;p8"/>
          <p:cNvSpPr/>
          <p:nvPr/>
        </p:nvSpPr>
        <p:spPr>
          <a:xfrm>
            <a:off x="1442085" y="1222026"/>
            <a:ext cx="201168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Engineered features</a:t>
            </a:r>
            <a:endParaRPr sz="1300">
              <a:solidFill>
                <a:schemeClr val="dk1"/>
              </a:solidFill>
              <a:latin typeface="Arial"/>
              <a:ea typeface="Arial"/>
              <a:cs typeface="Arial"/>
              <a:sym typeface="Arial"/>
            </a:endParaRPr>
          </a:p>
        </p:txBody>
      </p:sp>
      <p:pic>
        <p:nvPicPr>
          <p:cNvPr id="169" name="Google Shape;169;p8"/>
          <p:cNvPicPr preferRelativeResize="0"/>
          <p:nvPr/>
        </p:nvPicPr>
        <p:blipFill rotWithShape="1">
          <a:blip r:embed="rId4">
            <a:alphaModFix/>
          </a:blip>
          <a:srcRect b="0" l="0" r="0" t="0"/>
          <a:stretch/>
        </p:blipFill>
        <p:spPr>
          <a:xfrm>
            <a:off x="1266177" y="1424563"/>
            <a:ext cx="9862020" cy="1549167"/>
          </a:xfrm>
          <a:prstGeom prst="rect">
            <a:avLst/>
          </a:prstGeom>
          <a:noFill/>
          <a:ln>
            <a:noFill/>
          </a:ln>
        </p:spPr>
      </p:pic>
      <p:pic>
        <p:nvPicPr>
          <p:cNvPr id="170" name="Google Shape;170;p8"/>
          <p:cNvPicPr preferRelativeResize="0"/>
          <p:nvPr/>
        </p:nvPicPr>
        <p:blipFill rotWithShape="1">
          <a:blip r:embed="rId5">
            <a:alphaModFix/>
          </a:blip>
          <a:srcRect b="0" l="0" r="0" t="0"/>
          <a:stretch/>
        </p:blipFill>
        <p:spPr>
          <a:xfrm>
            <a:off x="1390650" y="3407727"/>
            <a:ext cx="8459381" cy="1219370"/>
          </a:xfrm>
          <a:prstGeom prst="rect">
            <a:avLst/>
          </a:prstGeom>
          <a:noFill/>
          <a:ln>
            <a:noFill/>
          </a:ln>
        </p:spPr>
      </p:pic>
      <p:sp>
        <p:nvSpPr>
          <p:cNvPr id="171" name="Google Shape;171;p8"/>
          <p:cNvSpPr/>
          <p:nvPr/>
        </p:nvSpPr>
        <p:spPr>
          <a:xfrm>
            <a:off x="1442085" y="4718398"/>
            <a:ext cx="260985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300"/>
              <a:buFont typeface="Arial"/>
              <a:buNone/>
            </a:pPr>
            <a:r>
              <a:rPr b="1" lang="en-US" sz="1300">
                <a:solidFill>
                  <a:srgbClr val="B78A2A"/>
                </a:solidFill>
                <a:latin typeface="Arial"/>
                <a:ea typeface="Arial"/>
                <a:cs typeface="Arial"/>
                <a:sym typeface="Arial"/>
              </a:rPr>
              <a:t>Rationale for using RobustScaler </a:t>
            </a:r>
            <a:endParaRPr sz="13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Distributional Differences by Diagnosis</a:t>
            </a:r>
            <a:endParaRPr sz="2800">
              <a:solidFill>
                <a:schemeClr val="dk1"/>
              </a:solidFill>
              <a:latin typeface="Arial"/>
              <a:ea typeface="Arial"/>
              <a:cs typeface="Arial"/>
              <a:sym typeface="Arial"/>
            </a:endParaRPr>
          </a:p>
        </p:txBody>
      </p:sp>
      <p:cxnSp>
        <p:nvCxnSpPr>
          <p:cNvPr id="178" name="Google Shape;178;p9"/>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79" name="Google Shape;179;p9"/>
          <p:cNvSpPr/>
          <p:nvPr/>
        </p:nvSpPr>
        <p:spPr>
          <a:xfrm>
            <a:off x="786384" y="9875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270"/>
              </a:buClr>
              <a:buSzPts val="1300"/>
              <a:buFont typeface="Arial"/>
              <a:buNone/>
            </a:pPr>
            <a:r>
              <a:rPr i="1" lang="en-US" sz="1300">
                <a:solidFill>
                  <a:srgbClr val="5B6270"/>
                </a:solidFill>
                <a:latin typeface="Arial"/>
                <a:ea typeface="Arial"/>
                <a:cs typeface="Arial"/>
                <a:sym typeface="Arial"/>
              </a:rPr>
              <a:t>The figure below compares key numeric features across benign and malignant cases</a:t>
            </a:r>
            <a:endParaRPr sz="1300">
              <a:solidFill>
                <a:schemeClr val="dk1"/>
              </a:solidFill>
              <a:latin typeface="Arial"/>
              <a:ea typeface="Arial"/>
              <a:cs typeface="Arial"/>
              <a:sym typeface="Arial"/>
            </a:endParaRPr>
          </a:p>
        </p:txBody>
      </p:sp>
      <p:pic>
        <p:nvPicPr>
          <p:cNvPr descr="/mnt/data/notebook_assets/cell_22_0.png" id="180" name="Google Shape;180;p9"/>
          <p:cNvPicPr preferRelativeResize="0"/>
          <p:nvPr/>
        </p:nvPicPr>
        <p:blipFill rotWithShape="1">
          <a:blip r:embed="rId3">
            <a:alphaModFix/>
          </a:blip>
          <a:srcRect b="0" l="0" r="0" t="0"/>
          <a:stretch/>
        </p:blipFill>
        <p:spPr>
          <a:xfrm>
            <a:off x="868680" y="1525347"/>
            <a:ext cx="10607040" cy="2993488"/>
          </a:xfrm>
          <a:prstGeom prst="rect">
            <a:avLst/>
          </a:prstGeom>
          <a:noFill/>
          <a:ln>
            <a:noFill/>
          </a:ln>
        </p:spPr>
      </p:pic>
      <p:sp>
        <p:nvSpPr>
          <p:cNvPr id="181" name="Google Shape;181;p9"/>
          <p:cNvSpPr/>
          <p:nvPr/>
        </p:nvSpPr>
        <p:spPr>
          <a:xfrm>
            <a:off x="1600200" y="4814873"/>
            <a:ext cx="9738360" cy="1123011"/>
          </a:xfrm>
          <a:prstGeom prst="rect">
            <a:avLst/>
          </a:prstGeom>
          <a:noFill/>
          <a:ln>
            <a:noFill/>
          </a:ln>
        </p:spPr>
        <p:txBody>
          <a:bodyPr anchorCtr="0" anchor="t" bIns="0" lIns="0" spcFirstLastPara="1" rIns="0" wrap="square" tIns="0">
            <a:noAutofit/>
          </a:bodyPr>
          <a:lstStyle/>
          <a:p>
            <a:pPr indent="-285750" lvl="0" marL="285750" marR="0" rtl="0" algn="l">
              <a:spcBef>
                <a:spcPts val="0"/>
              </a:spcBef>
              <a:spcAft>
                <a:spcPts val="0"/>
              </a:spcAft>
              <a:buClr>
                <a:srgbClr val="1F2430"/>
              </a:buClr>
              <a:buSzPts val="1620"/>
              <a:buFont typeface="Arial"/>
              <a:buChar char="•"/>
            </a:pPr>
            <a:r>
              <a:rPr lang="en-US" sz="1620">
                <a:solidFill>
                  <a:srgbClr val="1F2430"/>
                </a:solidFill>
                <a:latin typeface="Arial"/>
                <a:ea typeface="Arial"/>
                <a:cs typeface="Arial"/>
                <a:sym typeface="Arial"/>
              </a:rPr>
              <a:t>The distributions show the clearest class shifts in radius mean and area worst, where malignant tumors occupy larger values. </a:t>
            </a:r>
            <a:endParaRPr/>
          </a:p>
          <a:p>
            <a:pPr indent="-285750" lvl="0" marL="285750" marR="0" rtl="0" algn="l">
              <a:spcBef>
                <a:spcPts val="0"/>
              </a:spcBef>
              <a:spcAft>
                <a:spcPts val="0"/>
              </a:spcAft>
              <a:buClr>
                <a:srgbClr val="1F2430"/>
              </a:buClr>
              <a:buSzPts val="1620"/>
              <a:buFont typeface="Arial"/>
              <a:buChar char="•"/>
            </a:pPr>
            <a:r>
              <a:rPr lang="en-US" sz="1620">
                <a:solidFill>
                  <a:srgbClr val="1F2430"/>
                </a:solidFill>
                <a:latin typeface="Arial"/>
                <a:ea typeface="Arial"/>
                <a:cs typeface="Arial"/>
                <a:sym typeface="Arial"/>
              </a:rPr>
              <a:t>Texture mean still contributes signal, but its overlap suggests it is more informative in combination with other variables than by itself.</a:t>
            </a:r>
            <a:endParaRPr sz="1620">
              <a:solidFill>
                <a:schemeClr val="dk1"/>
              </a:solidFill>
              <a:latin typeface="Arial"/>
              <a:ea typeface="Arial"/>
              <a:cs typeface="Arial"/>
              <a:sym typeface="Arial"/>
            </a:endParaRPr>
          </a:p>
        </p:txBody>
      </p:sp>
      <p:pic>
        <p:nvPicPr>
          <p:cNvPr descr="/mnt/data/template_logo.png" id="182" name="Google Shape;182;p9"/>
          <p:cNvPicPr preferRelativeResize="0"/>
          <p:nvPr/>
        </p:nvPicPr>
        <p:blipFill rotWithShape="1">
          <a:blip r:embed="rId4">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Correlation Structure</a:t>
            </a:r>
            <a:endParaRPr sz="2800">
              <a:solidFill>
                <a:schemeClr val="dk1"/>
              </a:solidFill>
              <a:latin typeface="Arial"/>
              <a:ea typeface="Arial"/>
              <a:cs typeface="Arial"/>
              <a:sym typeface="Arial"/>
            </a:endParaRPr>
          </a:p>
        </p:txBody>
      </p:sp>
      <p:cxnSp>
        <p:nvCxnSpPr>
          <p:cNvPr id="189" name="Google Shape;189;p10"/>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190" name="Google Shape;190;p10"/>
          <p:cNvSpPr/>
          <p:nvPr/>
        </p:nvSpPr>
        <p:spPr>
          <a:xfrm>
            <a:off x="786384" y="9875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270"/>
              </a:buClr>
              <a:buSzPts val="1300"/>
              <a:buFont typeface="Arial"/>
              <a:buNone/>
            </a:pPr>
            <a:r>
              <a:rPr i="1" lang="en-US" sz="1300">
                <a:solidFill>
                  <a:srgbClr val="5B6270"/>
                </a:solidFill>
                <a:latin typeface="Arial"/>
                <a:ea typeface="Arial"/>
                <a:cs typeface="Arial"/>
                <a:sym typeface="Arial"/>
              </a:rPr>
              <a:t>Figure 2 confirms that the dataset contains strong redundancy among size-related measurements</a:t>
            </a:r>
            <a:endParaRPr sz="1300">
              <a:solidFill>
                <a:schemeClr val="dk1"/>
              </a:solidFill>
              <a:latin typeface="Arial"/>
              <a:ea typeface="Arial"/>
              <a:cs typeface="Arial"/>
              <a:sym typeface="Arial"/>
            </a:endParaRPr>
          </a:p>
        </p:txBody>
      </p:sp>
      <p:pic>
        <p:nvPicPr>
          <p:cNvPr descr="/mnt/data/notebook_assets/cell_24_0.png" id="191" name="Google Shape;191;p10"/>
          <p:cNvPicPr preferRelativeResize="0"/>
          <p:nvPr/>
        </p:nvPicPr>
        <p:blipFill rotWithShape="1">
          <a:blip r:embed="rId3">
            <a:alphaModFix/>
          </a:blip>
          <a:srcRect b="0" l="0" r="0" t="0"/>
          <a:stretch/>
        </p:blipFill>
        <p:spPr>
          <a:xfrm>
            <a:off x="1224399" y="1298448"/>
            <a:ext cx="5872242" cy="4754880"/>
          </a:xfrm>
          <a:prstGeom prst="rect">
            <a:avLst/>
          </a:prstGeom>
          <a:noFill/>
          <a:ln>
            <a:noFill/>
          </a:ln>
        </p:spPr>
      </p:pic>
      <p:pic>
        <p:nvPicPr>
          <p:cNvPr descr="/mnt/data/slide_assets/top_correlations.png" id="192" name="Google Shape;192;p10"/>
          <p:cNvPicPr preferRelativeResize="0"/>
          <p:nvPr/>
        </p:nvPicPr>
        <p:blipFill rotWithShape="1">
          <a:blip r:embed="rId4">
            <a:alphaModFix/>
          </a:blip>
          <a:srcRect b="0" l="0" r="0" t="0"/>
          <a:stretch/>
        </p:blipFill>
        <p:spPr>
          <a:xfrm>
            <a:off x="7635240" y="1656960"/>
            <a:ext cx="3703320" cy="2629681"/>
          </a:xfrm>
          <a:prstGeom prst="rect">
            <a:avLst/>
          </a:prstGeom>
          <a:noFill/>
          <a:ln>
            <a:noFill/>
          </a:ln>
        </p:spPr>
      </p:pic>
      <p:sp>
        <p:nvSpPr>
          <p:cNvPr id="193" name="Google Shape;193;p10"/>
          <p:cNvSpPr/>
          <p:nvPr/>
        </p:nvSpPr>
        <p:spPr>
          <a:xfrm>
            <a:off x="7635239" y="4590288"/>
            <a:ext cx="3937635" cy="2052828"/>
          </a:xfrm>
          <a:prstGeom prst="rect">
            <a:avLst/>
          </a:prstGeom>
          <a:noFill/>
          <a:ln>
            <a:noFill/>
          </a:ln>
        </p:spPr>
        <p:txBody>
          <a:bodyPr anchorCtr="0" anchor="t" bIns="750" lIns="750" spcFirstLastPara="1" rIns="750" wrap="square" tIns="750">
            <a:noAutofit/>
          </a:bodyPr>
          <a:lstStyle/>
          <a:p>
            <a:pPr indent="-177800" lvl="0" marL="177800" marR="0" rtl="0" algn="l">
              <a:spcBef>
                <a:spcPts val="0"/>
              </a:spcBef>
              <a:spcAft>
                <a:spcPts val="0"/>
              </a:spcAft>
              <a:buClr>
                <a:srgbClr val="1F2430"/>
              </a:buClr>
              <a:buSzPts val="1580"/>
              <a:buFont typeface="Arial"/>
              <a:buChar char="•"/>
            </a:pPr>
            <a:r>
              <a:rPr lang="en-US" sz="1580">
                <a:solidFill>
                  <a:srgbClr val="1F2430"/>
                </a:solidFill>
                <a:latin typeface="Arial"/>
                <a:ea typeface="Arial"/>
                <a:cs typeface="Arial"/>
                <a:sym typeface="Arial"/>
              </a:rPr>
              <a:t>Radius, perimeter, and area move together almost perfectly.</a:t>
            </a:r>
            <a:endParaRPr sz="1580">
              <a:solidFill>
                <a:schemeClr val="dk1"/>
              </a:solidFill>
              <a:latin typeface="Arial"/>
              <a:ea typeface="Arial"/>
              <a:cs typeface="Arial"/>
              <a:sym typeface="Arial"/>
            </a:endParaRPr>
          </a:p>
          <a:p>
            <a:pPr indent="-177800" lvl="0" marL="177800" marR="0" rtl="0" algn="l">
              <a:spcBef>
                <a:spcPts val="0"/>
              </a:spcBef>
              <a:spcAft>
                <a:spcPts val="0"/>
              </a:spcAft>
              <a:buClr>
                <a:srgbClr val="1F2430"/>
              </a:buClr>
              <a:buSzPts val="1580"/>
              <a:buFont typeface="Arial"/>
              <a:buChar char="•"/>
            </a:pPr>
            <a:r>
              <a:rPr lang="en-US" sz="1580">
                <a:solidFill>
                  <a:srgbClr val="1F2430"/>
                </a:solidFill>
                <a:latin typeface="Arial"/>
                <a:ea typeface="Arial"/>
                <a:cs typeface="Arial"/>
                <a:sym typeface="Arial"/>
              </a:rPr>
              <a:t>The single strongest raw correlation is radius1 vs perimeter1 at 0.9977.</a:t>
            </a:r>
            <a:endParaRPr sz="1580">
              <a:solidFill>
                <a:schemeClr val="dk1"/>
              </a:solidFill>
              <a:latin typeface="Arial"/>
              <a:ea typeface="Arial"/>
              <a:cs typeface="Arial"/>
              <a:sym typeface="Arial"/>
            </a:endParaRPr>
          </a:p>
          <a:p>
            <a:pPr indent="-177800" lvl="0" marL="177800" marR="0" rtl="0" algn="l">
              <a:spcBef>
                <a:spcPts val="0"/>
              </a:spcBef>
              <a:spcAft>
                <a:spcPts val="0"/>
              </a:spcAft>
              <a:buClr>
                <a:srgbClr val="1F2430"/>
              </a:buClr>
              <a:buSzPts val="1580"/>
              <a:buFont typeface="Arial"/>
              <a:buChar char="•"/>
            </a:pPr>
            <a:r>
              <a:rPr lang="en-US" sz="1580">
                <a:solidFill>
                  <a:srgbClr val="1F2430"/>
                </a:solidFill>
                <a:latin typeface="Arial"/>
                <a:ea typeface="Arial"/>
                <a:cs typeface="Arial"/>
                <a:sym typeface="Arial"/>
              </a:rPr>
              <a:t>This matters for later modeling because linear methods can become unstable when highly collinear predictors are left untreated.</a:t>
            </a:r>
            <a:endParaRPr sz="1580">
              <a:solidFill>
                <a:schemeClr val="dk1"/>
              </a:solidFill>
              <a:latin typeface="Arial"/>
              <a:ea typeface="Arial"/>
              <a:cs typeface="Arial"/>
              <a:sym typeface="Arial"/>
            </a:endParaRPr>
          </a:p>
        </p:txBody>
      </p:sp>
      <p:pic>
        <p:nvPicPr>
          <p:cNvPr descr="/mnt/data/template_logo.png" id="194" name="Google Shape;194;p10"/>
          <p:cNvPicPr preferRelativeResize="0"/>
          <p:nvPr/>
        </p:nvPicPr>
        <p:blipFill rotWithShape="1">
          <a:blip r:embed="rId5">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Class Balance and Banded Feature Analyses</a:t>
            </a:r>
            <a:endParaRPr sz="2800">
              <a:solidFill>
                <a:schemeClr val="dk1"/>
              </a:solidFill>
              <a:latin typeface="Arial"/>
              <a:ea typeface="Arial"/>
              <a:cs typeface="Arial"/>
              <a:sym typeface="Arial"/>
            </a:endParaRPr>
          </a:p>
        </p:txBody>
      </p:sp>
      <p:cxnSp>
        <p:nvCxnSpPr>
          <p:cNvPr id="201" name="Google Shape;201;p11"/>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202" name="Google Shape;202;p11"/>
          <p:cNvSpPr/>
          <p:nvPr/>
        </p:nvSpPr>
        <p:spPr>
          <a:xfrm>
            <a:off x="786384" y="9875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270"/>
              </a:buClr>
              <a:buSzPts val="1300"/>
              <a:buFont typeface="Arial"/>
              <a:buNone/>
            </a:pPr>
            <a:r>
              <a:rPr i="1" lang="en-US" sz="1300">
                <a:solidFill>
                  <a:srgbClr val="5B6270"/>
                </a:solidFill>
                <a:latin typeface="Arial"/>
                <a:ea typeface="Arial"/>
                <a:cs typeface="Arial"/>
                <a:sym typeface="Arial"/>
              </a:rPr>
              <a:t>Figures 3–5 show both the overall class mix and how diagnosis shifts across engineered bands</a:t>
            </a:r>
            <a:endParaRPr sz="1300">
              <a:solidFill>
                <a:schemeClr val="dk1"/>
              </a:solidFill>
              <a:latin typeface="Arial"/>
              <a:ea typeface="Arial"/>
              <a:cs typeface="Arial"/>
              <a:sym typeface="Arial"/>
            </a:endParaRPr>
          </a:p>
        </p:txBody>
      </p:sp>
      <p:pic>
        <p:nvPicPr>
          <p:cNvPr descr="/mnt/data/slide_assets/class_balance_bands.png" id="203" name="Google Shape;203;p11"/>
          <p:cNvPicPr preferRelativeResize="0"/>
          <p:nvPr/>
        </p:nvPicPr>
        <p:blipFill rotWithShape="1">
          <a:blip r:embed="rId3">
            <a:alphaModFix/>
          </a:blip>
          <a:srcRect b="0" l="0" r="0" t="0"/>
          <a:stretch/>
        </p:blipFill>
        <p:spPr>
          <a:xfrm>
            <a:off x="804672" y="1961075"/>
            <a:ext cx="10652760" cy="2167754"/>
          </a:xfrm>
          <a:prstGeom prst="rect">
            <a:avLst/>
          </a:prstGeom>
          <a:noFill/>
          <a:ln>
            <a:noFill/>
          </a:ln>
        </p:spPr>
      </p:pic>
      <p:sp>
        <p:nvSpPr>
          <p:cNvPr id="204" name="Google Shape;204;p11"/>
          <p:cNvSpPr/>
          <p:nvPr/>
        </p:nvSpPr>
        <p:spPr>
          <a:xfrm>
            <a:off x="1483995" y="4453666"/>
            <a:ext cx="9464040" cy="1547084"/>
          </a:xfrm>
          <a:prstGeom prst="rect">
            <a:avLst/>
          </a:prstGeom>
          <a:noFill/>
          <a:ln>
            <a:noFill/>
          </a:ln>
        </p:spPr>
        <p:txBody>
          <a:bodyPr anchorCtr="0" anchor="t" bIns="750" lIns="750" spcFirstLastPara="1" rIns="750" wrap="square" tIns="750">
            <a:noAutofit/>
          </a:bodyPr>
          <a:lstStyle/>
          <a:p>
            <a:pPr indent="-190500" lvl="0" marL="190500" marR="0" rtl="0" algn="l">
              <a:spcBef>
                <a:spcPts val="0"/>
              </a:spcBef>
              <a:spcAft>
                <a:spcPts val="0"/>
              </a:spcAft>
              <a:buClr>
                <a:srgbClr val="1F2430"/>
              </a:buClr>
              <a:buSzPts val="1800"/>
              <a:buFont typeface="Arial"/>
              <a:buChar char="•"/>
            </a:pPr>
            <a:r>
              <a:rPr lang="en-US" sz="1800">
                <a:solidFill>
                  <a:srgbClr val="1F2430"/>
                </a:solidFill>
                <a:latin typeface="Arial"/>
                <a:ea typeface="Arial"/>
                <a:cs typeface="Arial"/>
                <a:sym typeface="Arial"/>
              </a:rPr>
              <a:t>The dataset is moderately imbalanced: 62.74% benign versus 37.26% malignant.</a:t>
            </a:r>
            <a:endParaRPr sz="1800">
              <a:solidFill>
                <a:schemeClr val="dk1"/>
              </a:solidFill>
              <a:latin typeface="Arial"/>
              <a:ea typeface="Arial"/>
              <a:cs typeface="Arial"/>
              <a:sym typeface="Arial"/>
            </a:endParaRPr>
          </a:p>
          <a:p>
            <a:pPr indent="-190500" lvl="0" marL="190500" marR="0" rtl="0" algn="l">
              <a:spcBef>
                <a:spcPts val="0"/>
              </a:spcBef>
              <a:spcAft>
                <a:spcPts val="0"/>
              </a:spcAft>
              <a:buClr>
                <a:srgbClr val="1F2430"/>
              </a:buClr>
              <a:buSzPts val="1800"/>
              <a:buFont typeface="Arial"/>
              <a:buChar char="•"/>
            </a:pPr>
            <a:r>
              <a:rPr lang="en-US" sz="1800">
                <a:solidFill>
                  <a:srgbClr val="1F2430"/>
                </a:solidFill>
                <a:latin typeface="Arial"/>
                <a:ea typeface="Arial"/>
                <a:cs typeface="Arial"/>
                <a:sym typeface="Arial"/>
              </a:rPr>
              <a:t>Radius bands show a very strong monotonic shift, with the largest quartile dominated by malignant cases.</a:t>
            </a:r>
            <a:endParaRPr sz="1800">
              <a:solidFill>
                <a:schemeClr val="dk1"/>
              </a:solidFill>
              <a:latin typeface="Arial"/>
              <a:ea typeface="Arial"/>
              <a:cs typeface="Arial"/>
              <a:sym typeface="Arial"/>
            </a:endParaRPr>
          </a:p>
          <a:p>
            <a:pPr indent="-190500" lvl="0" marL="190500" marR="0" rtl="0" algn="l">
              <a:spcBef>
                <a:spcPts val="0"/>
              </a:spcBef>
              <a:spcAft>
                <a:spcPts val="0"/>
              </a:spcAft>
              <a:buClr>
                <a:srgbClr val="1F2430"/>
              </a:buClr>
              <a:buSzPts val="1800"/>
              <a:buFont typeface="Arial"/>
              <a:buChar char="•"/>
            </a:pPr>
            <a:r>
              <a:rPr lang="en-US" sz="1800">
                <a:solidFill>
                  <a:srgbClr val="1F2430"/>
                </a:solidFill>
                <a:latin typeface="Arial"/>
                <a:ea typeface="Arial"/>
                <a:cs typeface="Arial"/>
                <a:sym typeface="Arial"/>
              </a:rPr>
              <a:t>Texture bands also move toward malignancy at higher values, but the separation is weaker than the size-based signal.</a:t>
            </a:r>
            <a:endParaRPr sz="1800">
              <a:solidFill>
                <a:schemeClr val="dk1"/>
              </a:solidFill>
              <a:latin typeface="Arial"/>
              <a:ea typeface="Arial"/>
              <a:cs typeface="Arial"/>
              <a:sym typeface="Arial"/>
            </a:endParaRPr>
          </a:p>
        </p:txBody>
      </p:sp>
      <p:pic>
        <p:nvPicPr>
          <p:cNvPr descr="/mnt/data/template_logo.png" id="205" name="Google Shape;205;p11"/>
          <p:cNvPicPr preferRelativeResize="0"/>
          <p:nvPr/>
        </p:nvPicPr>
        <p:blipFill rotWithShape="1">
          <a:blip r:embed="rId4">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PCA Separation in Original and Reduced Feature Space</a:t>
            </a:r>
            <a:endParaRPr sz="2800">
              <a:solidFill>
                <a:schemeClr val="dk1"/>
              </a:solidFill>
              <a:latin typeface="Arial"/>
              <a:ea typeface="Arial"/>
              <a:cs typeface="Arial"/>
              <a:sym typeface="Arial"/>
            </a:endParaRPr>
          </a:p>
        </p:txBody>
      </p:sp>
      <p:cxnSp>
        <p:nvCxnSpPr>
          <p:cNvPr id="212" name="Google Shape;212;p12"/>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213" name="Google Shape;213;p12"/>
          <p:cNvSpPr/>
          <p:nvPr/>
        </p:nvSpPr>
        <p:spPr>
          <a:xfrm>
            <a:off x="786384" y="9875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270"/>
              </a:buClr>
              <a:buSzPts val="1300"/>
              <a:buFont typeface="Arial"/>
              <a:buNone/>
            </a:pPr>
            <a:r>
              <a:rPr i="1" lang="en-US" sz="1300">
                <a:solidFill>
                  <a:srgbClr val="5B6270"/>
                </a:solidFill>
                <a:latin typeface="Arial"/>
                <a:ea typeface="Arial"/>
                <a:cs typeface="Arial"/>
                <a:sym typeface="Arial"/>
              </a:rPr>
              <a:t>Figures 6–7 show that class structure remains visible both before and after dimensionality reduction</a:t>
            </a:r>
            <a:endParaRPr sz="1300">
              <a:solidFill>
                <a:schemeClr val="dk1"/>
              </a:solidFill>
              <a:latin typeface="Arial"/>
              <a:ea typeface="Arial"/>
              <a:cs typeface="Arial"/>
              <a:sym typeface="Arial"/>
            </a:endParaRPr>
          </a:p>
        </p:txBody>
      </p:sp>
      <p:pic>
        <p:nvPicPr>
          <p:cNvPr descr="/mnt/data/slide_assets/scatter_pca_combo.png" id="214" name="Google Shape;214;p12"/>
          <p:cNvPicPr preferRelativeResize="0"/>
          <p:nvPr/>
        </p:nvPicPr>
        <p:blipFill rotWithShape="1">
          <a:blip r:embed="rId3">
            <a:alphaModFix/>
          </a:blip>
          <a:srcRect b="0" l="0" r="0" t="0"/>
          <a:stretch/>
        </p:blipFill>
        <p:spPr>
          <a:xfrm>
            <a:off x="897640" y="1353312"/>
            <a:ext cx="10567407" cy="3749040"/>
          </a:xfrm>
          <a:prstGeom prst="rect">
            <a:avLst/>
          </a:prstGeom>
          <a:noFill/>
          <a:ln>
            <a:noFill/>
          </a:ln>
        </p:spPr>
      </p:pic>
      <p:sp>
        <p:nvSpPr>
          <p:cNvPr id="215" name="Google Shape;215;p12"/>
          <p:cNvSpPr/>
          <p:nvPr/>
        </p:nvSpPr>
        <p:spPr>
          <a:xfrm>
            <a:off x="1417320" y="5230368"/>
            <a:ext cx="9464040" cy="960120"/>
          </a:xfrm>
          <a:prstGeom prst="rect">
            <a:avLst/>
          </a:prstGeom>
          <a:noFill/>
          <a:ln>
            <a:noFill/>
          </a:ln>
        </p:spPr>
        <p:txBody>
          <a:bodyPr anchorCtr="0" anchor="t" bIns="750" lIns="750" spcFirstLastPara="1" rIns="750" wrap="square" tIns="750">
            <a:noAutofit/>
          </a:bodyPr>
          <a:lstStyle/>
          <a:p>
            <a:pPr indent="-190500" lvl="0" marL="190500" marR="0" rtl="0" algn="l">
              <a:spcBef>
                <a:spcPts val="0"/>
              </a:spcBef>
              <a:spcAft>
                <a:spcPts val="0"/>
              </a:spcAft>
              <a:buClr>
                <a:srgbClr val="1F2430"/>
              </a:buClr>
              <a:buSzPts val="1560"/>
              <a:buFont typeface="Arial"/>
              <a:buChar char="•"/>
            </a:pPr>
            <a:r>
              <a:rPr lang="en-US" sz="1560">
                <a:solidFill>
                  <a:srgbClr val="1F2430"/>
                </a:solidFill>
                <a:latin typeface="Arial"/>
                <a:ea typeface="Arial"/>
                <a:cs typeface="Arial"/>
                <a:sym typeface="Arial"/>
              </a:rPr>
              <a:t>In the raw feature view, malignant cases cluster where both radius mean and area mean are large.</a:t>
            </a:r>
            <a:endParaRPr sz="1560">
              <a:solidFill>
                <a:schemeClr val="dk1"/>
              </a:solidFill>
              <a:latin typeface="Arial"/>
              <a:ea typeface="Arial"/>
              <a:cs typeface="Arial"/>
              <a:sym typeface="Arial"/>
            </a:endParaRPr>
          </a:p>
          <a:p>
            <a:pPr indent="-190500" lvl="0" marL="190500" marR="0" rtl="0" algn="l">
              <a:spcBef>
                <a:spcPts val="0"/>
              </a:spcBef>
              <a:spcAft>
                <a:spcPts val="0"/>
              </a:spcAft>
              <a:buClr>
                <a:srgbClr val="1F2430"/>
              </a:buClr>
              <a:buSzPts val="1560"/>
              <a:buFont typeface="Arial"/>
              <a:buChar char="•"/>
            </a:pPr>
            <a:r>
              <a:rPr lang="en-US" sz="1560">
                <a:solidFill>
                  <a:srgbClr val="1F2430"/>
                </a:solidFill>
                <a:latin typeface="Arial"/>
                <a:ea typeface="Arial"/>
                <a:cs typeface="Arial"/>
                <a:sym typeface="Arial"/>
              </a:rPr>
              <a:t>In the PCA view, the first two principal components explain 63.64% of total variance and still preserve substantial class separation.</a:t>
            </a:r>
            <a:endParaRPr sz="1560">
              <a:solidFill>
                <a:schemeClr val="dk1"/>
              </a:solidFill>
              <a:latin typeface="Arial"/>
              <a:ea typeface="Arial"/>
              <a:cs typeface="Arial"/>
              <a:sym typeface="Arial"/>
            </a:endParaRPr>
          </a:p>
          <a:p>
            <a:pPr indent="-190500" lvl="0" marL="190500" marR="0" rtl="0" algn="l">
              <a:spcBef>
                <a:spcPts val="0"/>
              </a:spcBef>
              <a:spcAft>
                <a:spcPts val="0"/>
              </a:spcAft>
              <a:buClr>
                <a:srgbClr val="1F2430"/>
              </a:buClr>
              <a:buSzPts val="1560"/>
              <a:buFont typeface="Arial"/>
              <a:buChar char="•"/>
            </a:pPr>
            <a:r>
              <a:rPr lang="en-US" sz="1560">
                <a:solidFill>
                  <a:srgbClr val="1F2430"/>
                </a:solidFill>
                <a:latin typeface="Arial"/>
                <a:ea typeface="Arial"/>
                <a:cs typeface="Arial"/>
                <a:sym typeface="Arial"/>
              </a:rPr>
              <a:t>The residual overlap suggests there is room for flexible classifiers to improve on purely linear boundaries.</a:t>
            </a:r>
            <a:endParaRPr sz="1560">
              <a:solidFill>
                <a:schemeClr val="dk1"/>
              </a:solidFill>
              <a:latin typeface="Arial"/>
              <a:ea typeface="Arial"/>
              <a:cs typeface="Arial"/>
              <a:sym typeface="Arial"/>
            </a:endParaRPr>
          </a:p>
        </p:txBody>
      </p:sp>
      <p:pic>
        <p:nvPicPr>
          <p:cNvPr descr="/mnt/data/template_logo.png" id="216" name="Google Shape;216;p12"/>
          <p:cNvPicPr preferRelativeResize="0"/>
          <p:nvPr/>
        </p:nvPicPr>
        <p:blipFill rotWithShape="1">
          <a:blip r:embed="rId4">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latin typeface="Arial"/>
                <a:ea typeface="Arial"/>
                <a:cs typeface="Arial"/>
                <a:sym typeface="Arial"/>
              </a:rPr>
              <a:t>Conclusions and Next Steps</a:t>
            </a:r>
            <a:endParaRPr sz="2800">
              <a:solidFill>
                <a:schemeClr val="dk1"/>
              </a:solidFill>
              <a:latin typeface="Arial"/>
              <a:ea typeface="Arial"/>
              <a:cs typeface="Arial"/>
              <a:sym typeface="Arial"/>
            </a:endParaRPr>
          </a:p>
        </p:txBody>
      </p:sp>
      <p:cxnSp>
        <p:nvCxnSpPr>
          <p:cNvPr id="223" name="Google Shape;223;p13"/>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224" name="Google Shape;224;p13"/>
          <p:cNvSpPr/>
          <p:nvPr/>
        </p:nvSpPr>
        <p:spPr>
          <a:xfrm>
            <a:off x="868680" y="1417320"/>
            <a:ext cx="18288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400"/>
              <a:buFont typeface="Arial"/>
              <a:buNone/>
            </a:pPr>
            <a:r>
              <a:rPr b="1" lang="en-US" sz="1400">
                <a:solidFill>
                  <a:srgbClr val="B78A2A"/>
                </a:solidFill>
                <a:latin typeface="Arial"/>
                <a:ea typeface="Arial"/>
                <a:cs typeface="Arial"/>
                <a:sym typeface="Arial"/>
              </a:rPr>
              <a:t>Main takeaways</a:t>
            </a:r>
            <a:endParaRPr sz="1400">
              <a:solidFill>
                <a:schemeClr val="dk1"/>
              </a:solidFill>
              <a:latin typeface="Arial"/>
              <a:ea typeface="Arial"/>
              <a:cs typeface="Arial"/>
              <a:sym typeface="Arial"/>
            </a:endParaRPr>
          </a:p>
        </p:txBody>
      </p:sp>
      <p:sp>
        <p:nvSpPr>
          <p:cNvPr id="225" name="Google Shape;225;p13"/>
          <p:cNvSpPr/>
          <p:nvPr/>
        </p:nvSpPr>
        <p:spPr>
          <a:xfrm>
            <a:off x="868680" y="1719072"/>
            <a:ext cx="5074920" cy="2681478"/>
          </a:xfrm>
          <a:prstGeom prst="rect">
            <a:avLst/>
          </a:prstGeom>
          <a:noFill/>
          <a:ln>
            <a:noFill/>
          </a:ln>
        </p:spPr>
        <p:txBody>
          <a:bodyPr anchorCtr="0" anchor="t" bIns="750" lIns="750" spcFirstLastPara="1" rIns="750" wrap="square" tIns="750">
            <a:noAutofit/>
          </a:bodyPr>
          <a:lstStyle/>
          <a:p>
            <a:pPr indent="-203200" lvl="0" marL="203200" marR="0" rtl="0" algn="l">
              <a:spcBef>
                <a:spcPts val="0"/>
              </a:spcBef>
              <a:spcAft>
                <a:spcPts val="0"/>
              </a:spcAft>
              <a:buClr>
                <a:srgbClr val="1F2430"/>
              </a:buClr>
              <a:buSzPts val="1700"/>
              <a:buFont typeface="Arial"/>
              <a:buChar char="•"/>
            </a:pPr>
            <a:r>
              <a:rPr lang="en-US" sz="1700">
                <a:solidFill>
                  <a:srgbClr val="1F2430"/>
                </a:solidFill>
                <a:latin typeface="Arial"/>
                <a:ea typeface="Arial"/>
                <a:cs typeface="Arial"/>
                <a:sym typeface="Arial"/>
              </a:rPr>
              <a:t>The dataset is clean, well-documented, and free of missing values after the empty column is removed.</a:t>
            </a:r>
            <a:endParaRPr sz="1700">
              <a:solidFill>
                <a:schemeClr val="dk1"/>
              </a:solidFill>
              <a:latin typeface="Arial"/>
              <a:ea typeface="Arial"/>
              <a:cs typeface="Arial"/>
              <a:sym typeface="Arial"/>
            </a:endParaRPr>
          </a:p>
          <a:p>
            <a:pPr indent="-203200" lvl="0" marL="203200" marR="0" rtl="0" algn="l">
              <a:spcBef>
                <a:spcPts val="0"/>
              </a:spcBef>
              <a:spcAft>
                <a:spcPts val="0"/>
              </a:spcAft>
              <a:buClr>
                <a:srgbClr val="1F2430"/>
              </a:buClr>
              <a:buSzPts val="1700"/>
              <a:buFont typeface="Arial"/>
              <a:buChar char="•"/>
            </a:pPr>
            <a:r>
              <a:rPr lang="en-US" sz="1700">
                <a:solidFill>
                  <a:srgbClr val="1F2430"/>
                </a:solidFill>
                <a:latin typeface="Arial"/>
                <a:ea typeface="Arial"/>
                <a:cs typeface="Arial"/>
                <a:sym typeface="Arial"/>
              </a:rPr>
              <a:t>Tumor size and shape variables dominate the separation between benign and malignant diagnoses.</a:t>
            </a:r>
            <a:endParaRPr sz="1700">
              <a:solidFill>
                <a:schemeClr val="dk1"/>
              </a:solidFill>
              <a:latin typeface="Arial"/>
              <a:ea typeface="Arial"/>
              <a:cs typeface="Arial"/>
              <a:sym typeface="Arial"/>
            </a:endParaRPr>
          </a:p>
          <a:p>
            <a:pPr indent="-203200" lvl="0" marL="203200" marR="0" rtl="0" algn="l">
              <a:spcBef>
                <a:spcPts val="0"/>
              </a:spcBef>
              <a:spcAft>
                <a:spcPts val="0"/>
              </a:spcAft>
              <a:buClr>
                <a:srgbClr val="1F2430"/>
              </a:buClr>
              <a:buSzPts val="1700"/>
              <a:buFont typeface="Arial"/>
              <a:buChar char="•"/>
            </a:pPr>
            <a:r>
              <a:rPr lang="en-US" sz="1700">
                <a:solidFill>
                  <a:srgbClr val="1F2430"/>
                </a:solidFill>
                <a:latin typeface="Arial"/>
                <a:ea typeface="Arial"/>
                <a:cs typeface="Arial"/>
                <a:sym typeface="Arial"/>
              </a:rPr>
              <a:t>Outlier capping, engineered ratios/interactions, and Robust scaling produce a defensible model-ready feature matrix.</a:t>
            </a:r>
            <a:endParaRPr sz="1700">
              <a:solidFill>
                <a:schemeClr val="dk1"/>
              </a:solidFill>
              <a:latin typeface="Arial"/>
              <a:ea typeface="Arial"/>
              <a:cs typeface="Arial"/>
              <a:sym typeface="Arial"/>
            </a:endParaRPr>
          </a:p>
        </p:txBody>
      </p:sp>
      <p:pic>
        <p:nvPicPr>
          <p:cNvPr descr="/mnt/data/template_logo.png" id="226" name="Google Shape;226;p13"/>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227" name="Google Shape;227;p13"/>
          <p:cNvSpPr/>
          <p:nvPr/>
        </p:nvSpPr>
        <p:spPr>
          <a:xfrm>
            <a:off x="6263640" y="1396365"/>
            <a:ext cx="18288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8A2A"/>
              </a:buClr>
              <a:buSzPts val="1400"/>
              <a:buFont typeface="Arial"/>
              <a:buNone/>
            </a:pPr>
            <a:r>
              <a:rPr b="1" lang="en-US" sz="1400">
                <a:solidFill>
                  <a:srgbClr val="B78A2A"/>
                </a:solidFill>
                <a:latin typeface="Arial"/>
                <a:ea typeface="Arial"/>
                <a:cs typeface="Arial"/>
                <a:sym typeface="Arial"/>
              </a:rPr>
              <a:t>Next steps</a:t>
            </a:r>
            <a:endParaRPr sz="1400">
              <a:solidFill>
                <a:schemeClr val="dk1"/>
              </a:solidFill>
              <a:latin typeface="Arial"/>
              <a:ea typeface="Arial"/>
              <a:cs typeface="Arial"/>
              <a:sym typeface="Arial"/>
            </a:endParaRPr>
          </a:p>
        </p:txBody>
      </p:sp>
      <p:sp>
        <p:nvSpPr>
          <p:cNvPr id="228" name="Google Shape;228;p13"/>
          <p:cNvSpPr/>
          <p:nvPr/>
        </p:nvSpPr>
        <p:spPr>
          <a:xfrm>
            <a:off x="6263640" y="1729358"/>
            <a:ext cx="5212080" cy="3899913"/>
          </a:xfrm>
          <a:prstGeom prst="rect">
            <a:avLst/>
          </a:prstGeom>
          <a:noFill/>
          <a:ln>
            <a:noFill/>
          </a:ln>
        </p:spPr>
        <p:txBody>
          <a:bodyPr anchorCtr="0" anchor="t" bIns="750" lIns="750" spcFirstLastPara="1" rIns="750" wrap="square" tIns="750">
            <a:noAutofit/>
          </a:bodyPr>
          <a:lstStyle/>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Perform Train-Test split</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Train and compare multiple classification models</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Evaluate model performance using accuracy, precision, recall, F1-score, ROC curve, and AUC.</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Apply feature selection techniques to identify the most important predictors of breast cancer diagnosis.</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Use cross-validation to test the stability and generalizability of the models.</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Explore hyperparameter tuning to improve model performance.</a:t>
            </a:r>
            <a:endParaRPr/>
          </a:p>
          <a:p>
            <a:pPr indent="-203200" lvl="0" marL="203200" marR="0" rtl="0" algn="l">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Interpret the final model results to highlight the most clinically meaningful features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d62a2c1f65_0_97"/>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References</a:t>
            </a:r>
            <a:endParaRPr sz="2800">
              <a:solidFill>
                <a:schemeClr val="dk1"/>
              </a:solidFill>
              <a:latin typeface="Arial"/>
              <a:ea typeface="Arial"/>
              <a:cs typeface="Arial"/>
              <a:sym typeface="Arial"/>
            </a:endParaRPr>
          </a:p>
        </p:txBody>
      </p:sp>
      <p:cxnSp>
        <p:nvCxnSpPr>
          <p:cNvPr id="235" name="Google Shape;235;g3d62a2c1f65_0_97"/>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236" name="Google Shape;236;g3d62a2c1f65_0_97"/>
          <p:cNvSpPr/>
          <p:nvPr/>
        </p:nvSpPr>
        <p:spPr>
          <a:xfrm>
            <a:off x="561550" y="1235400"/>
            <a:ext cx="10992600" cy="4625700"/>
          </a:xfrm>
          <a:prstGeom prst="rect">
            <a:avLst/>
          </a:prstGeom>
          <a:noFill/>
          <a:ln>
            <a:noFill/>
          </a:ln>
        </p:spPr>
        <p:txBody>
          <a:bodyPr anchorCtr="0" anchor="t" bIns="750" lIns="750" spcFirstLastPara="1" rIns="750" wrap="square" tIns="750">
            <a:noAutofit/>
          </a:bodyPr>
          <a:lstStyle/>
          <a:p>
            <a:pPr indent="-149225" lvl="0" marL="177800" marR="0" rtl="0" algn="l">
              <a:spcBef>
                <a:spcPts val="0"/>
              </a:spcBef>
              <a:spcAft>
                <a:spcPts val="0"/>
              </a:spcAft>
              <a:buClr>
                <a:schemeClr val="dk1"/>
              </a:buClr>
              <a:buSzPts val="1200"/>
              <a:buChar char="•"/>
            </a:pPr>
            <a:r>
              <a:rPr lang="en-US" sz="1200">
                <a:solidFill>
                  <a:schemeClr val="dk1"/>
                </a:solidFill>
              </a:rPr>
              <a:t>Makki, J. (2015). Diversity of breast carcinoma: Histological subtypes and clinical relevance. Clinical Medicine Insights: Pathology, 8, 23–31. https://doi.org/10.4137/CPath.S31563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Wolberg, W., Mangasarian, O., Street, N., &amp; Street, W. (1993). Breast Cancer Wisconsin (Diagnostic) [Dataset]. UCI Machine Learning Repository. https://doi.org/10.24432/C5DW2B.</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National Cancer Institute (2025). Retrieved from https://seer.cancer.gov/statfacts/html/breast.html. Assessed on Feb 20, 2026.</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American Cancer Society (2026). Retrieved from https://www.cancer.org/cancer/types/breast-cancer/about/how-common-is-breast-cancer.html. Assessed on Feb 20, 2026.</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Shang, C., &amp; Xu, D. (2022). Epidemiology of breast cancer. Oncologie, 24(4), 649–663. https://doi.org/10.32604/oncologie.2022.027640</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Jaglan, P., Dass, R., &amp; Duhan, M. (2019). Breast cancer detection techniques: Issues and challenges. Journal of the Institution of Engineers (India): Series B, 100(4), 379–386. https://doi.org/10.1007/s40031-019-00391-2</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La Moglia, A., &amp; Almustafa, K. M. M. (2025). Breast cancer prediction using machine learning classification algorithms. Intelligence-Based Medicine, 11, 100193. https://doi.org/10.1016/j.ibmed.2024.100193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Yue W, Wang Z, Chen H, Payne A, Liu X. 2018. Machine learning with applications in breast cancer diagnosis and prognosis. Designs. 2(2):13. doi: 10.3390/designs2020013.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Ahsan, M. M., Luna, S. A., &amp; Siddique, Z. (2022). Machine-learning-based disease diagnosis: A comprehensive review. Healthcare (Basel), 10(3), 541. https://doi.org/10.3390/healthcare10030541</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Manzoor, M. (2024). Machine learning for early disease diagnosis: A review of techniques in healthcare applications. Premier Journal of Science, 2(4). https://doi.org/10.5281/zenodo.14095684</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Moreno-Ibarra, A., et al. (2021). Classification of diseases using machine learning algorithms: A comparative study. Mathematics, 9(15), 1817. https://doi.org/10.3390/math9151817</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Scherr, T. F., Douglas, C. E., Schaecher, K. E., Schoepp, R. J., Ricks, K. M., &amp; Shoemaker, C. J. (2024). Application of a machine learning-based classification approach for developing host protein diagnostic models for infectious disease. Diagnostics (Basel), 14(12), 1290. https://doi.org/10.3390/diagnostics14121290</a:t>
            </a:r>
            <a:endParaRPr sz="1200">
              <a:solidFill>
                <a:schemeClr val="dk1"/>
              </a:solidFill>
            </a:endParaRPr>
          </a:p>
          <a:p>
            <a:pPr indent="0" lvl="0" marL="457200" marR="0" rtl="0" algn="l">
              <a:spcBef>
                <a:spcPts val="0"/>
              </a:spcBef>
              <a:spcAft>
                <a:spcPts val="0"/>
              </a:spcAft>
              <a:buNone/>
            </a:pPr>
            <a:r>
              <a:t/>
            </a:r>
            <a:endParaRPr sz="1950">
              <a:solidFill>
                <a:schemeClr val="dk1"/>
              </a:solidFill>
            </a:endParaRPr>
          </a:p>
        </p:txBody>
      </p:sp>
      <p:pic>
        <p:nvPicPr>
          <p:cNvPr descr="/mnt/data/template_logo.png" id="237" name="Google Shape;237;g3d62a2c1f65_0_97"/>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d62a2c1f65_0_105"/>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5B"/>
              </a:buClr>
              <a:buSzPts val="2800"/>
              <a:buFont typeface="Arial"/>
              <a:buNone/>
            </a:pPr>
            <a:r>
              <a:rPr b="1" lang="en-US" sz="2800">
                <a:solidFill>
                  <a:srgbClr val="0B1F5B"/>
                </a:solidFill>
              </a:rPr>
              <a:t>References</a:t>
            </a:r>
            <a:endParaRPr sz="2800">
              <a:solidFill>
                <a:schemeClr val="dk1"/>
              </a:solidFill>
              <a:latin typeface="Arial"/>
              <a:ea typeface="Arial"/>
              <a:cs typeface="Arial"/>
              <a:sym typeface="Arial"/>
            </a:endParaRPr>
          </a:p>
        </p:txBody>
      </p:sp>
      <p:cxnSp>
        <p:nvCxnSpPr>
          <p:cNvPr id="244" name="Google Shape;244;g3d62a2c1f65_0_105"/>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245" name="Google Shape;245;g3d62a2c1f65_0_105"/>
          <p:cNvSpPr/>
          <p:nvPr/>
        </p:nvSpPr>
        <p:spPr>
          <a:xfrm>
            <a:off x="561550" y="1235400"/>
            <a:ext cx="10992600" cy="4625700"/>
          </a:xfrm>
          <a:prstGeom prst="rect">
            <a:avLst/>
          </a:prstGeom>
          <a:noFill/>
          <a:ln>
            <a:noFill/>
          </a:ln>
        </p:spPr>
        <p:txBody>
          <a:bodyPr anchorCtr="0" anchor="t" bIns="750" lIns="750" spcFirstLastPara="1" rIns="750" wrap="square" tIns="750">
            <a:noAutofit/>
          </a:bodyPr>
          <a:lstStyle/>
          <a:p>
            <a:pPr indent="-149225" lvl="0" marL="177800" marR="0" rtl="0" algn="l">
              <a:spcBef>
                <a:spcPts val="0"/>
              </a:spcBef>
              <a:spcAft>
                <a:spcPts val="0"/>
              </a:spcAft>
              <a:buClr>
                <a:schemeClr val="dk1"/>
              </a:buClr>
              <a:buSzPts val="1200"/>
              <a:buChar char="•"/>
            </a:pPr>
            <a:r>
              <a:rPr lang="en-US" sz="1200">
                <a:solidFill>
                  <a:schemeClr val="dk1"/>
                </a:solidFill>
              </a:rPr>
              <a:t>Jafari, A. (2024). Machine-learning methods in detecting breast cancer and related therapeutic issues: A review. Computer Methods in Biomechanics and Biomedical Engineering: Imaging &amp; Visualization, 12(1), Article 2299093. </a:t>
            </a:r>
            <a:r>
              <a:rPr lang="en-US" sz="1200" u="sng">
                <a:solidFill>
                  <a:schemeClr val="hlink"/>
                </a:solidFill>
                <a:hlinkClick r:id="rId3"/>
              </a:rPr>
              <a:t>https://doi.org/10.1080/21681163.2023.2299093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La Moglia, A., &amp; Almustafa, K. M. (2025). Breast cancer prediction using machine learning classification algorithms. Intelligence-Based Medicine, 11, Article 100193. </a:t>
            </a:r>
            <a:r>
              <a:rPr lang="en-US" sz="1200" u="sng">
                <a:solidFill>
                  <a:schemeClr val="hlink"/>
                </a:solidFill>
                <a:hlinkClick r:id="rId4"/>
              </a:rPr>
              <a:t>https://doi.org/10.1016/j.ibmed.2024.100193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Yedjou, C. G., Tchounwou, S. S., Aló, R. A., Elhag, R., Mochona, B., &amp; Latinwo, L. (2021). Application of machine learning algorithms in breast cancer diagnosis and classification. International Journal of Science and Academic Research, 2(1), 3081–3086.</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Brunyé, T. T., Booth, K., Hendel, D., Kerr, K. F., Shucard, H., Weaver, D. L., &amp; Elmore, J. G. (2024). Machine learning classification of diagnostic accuracy in pathologists interpreting breast biopsies. Journal of the American Medical Informatics Association : JAMIA, 31(3), 552–562. </a:t>
            </a:r>
            <a:r>
              <a:rPr lang="en-US" sz="1200" u="sng">
                <a:solidFill>
                  <a:schemeClr val="hlink"/>
                </a:solidFill>
                <a:hlinkClick r:id="rId5"/>
              </a:rPr>
              <a:t>https://doi.org/10.1093/jamia/ocad232</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Al-Azzam, N., &amp; Shatnawi, I. (2021). Comparing supervised and semi-supervised machine learning models on diagnosing breast cancer. Annals of Medicine and Surgery, 62, 53–64. https://doi.org/10.1016/j.amsu.2020.12.043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Li, X., Li, C., Wang, H., Jiang, L., &amp; Chen, M. (2024). Comparison of radiomics-based machine-learning classifiers for the pretreatment prediction of pathologic complete response to neoadjuvant therapy in breast cancer. PeerJ, 12, e17683. https://doi.org/10.7717/peerj.17683</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Xiao, J., Mo, M., Wang, Z., Zhou, C., Shen, J., Yuan, J., He, Y., &amp; Zheng, Y. (2022). The application and comparison of machine learning models for the prediction of breast cancer prognosis: Retrospective cohort study. JMIR Medical Informatics, 10(2), e33440. https://doi.org/10.2196/33440</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Yao, J., Zhou, W., Xu, S., Jia, X., Zhou, J., Chen, X., &amp; Zhan, W. (2024). Machine learning-based breast tumor ultrasound radiomics for pre-operative prediction of axillary sentinel lymph node metastasis burden in early-stage invasive breast cancer. Ultrasound in Medicine &amp; Biology, 50(2), 229–236. https://doi.org/10.1016/j.ultrasmedbio.2023.10.004</a:t>
            </a:r>
            <a:endParaRPr sz="1200">
              <a:solidFill>
                <a:schemeClr val="dk1"/>
              </a:solidFill>
            </a:endParaRPr>
          </a:p>
          <a:p>
            <a:pPr indent="-149225" lvl="0" marL="177800" marR="0" rtl="0" algn="l">
              <a:spcBef>
                <a:spcPts val="0"/>
              </a:spcBef>
              <a:spcAft>
                <a:spcPts val="0"/>
              </a:spcAft>
              <a:buClr>
                <a:schemeClr val="dk1"/>
              </a:buClr>
              <a:buSzPts val="1200"/>
              <a:buChar char="•"/>
            </a:pPr>
            <a:r>
              <a:rPr lang="en-US" sz="1200">
                <a:solidFill>
                  <a:schemeClr val="dk1"/>
                </a:solidFill>
              </a:rPr>
              <a:t>Zhou, S., Hu, C., Wei, S., &amp; Yan, X. (2024). Breast cancer prediction based on multiple machine learning algorithms. Technology in Cancer Research &amp; Treatment, 23, 15330338241234791. https://doi.org/10.1177/15330338241234791</a:t>
            </a:r>
            <a:endParaRPr sz="1200">
              <a:solidFill>
                <a:schemeClr val="dk1"/>
              </a:solidFill>
            </a:endParaRPr>
          </a:p>
          <a:p>
            <a:pPr indent="0" lvl="0" marL="457200" marR="0" rtl="0" algn="l">
              <a:spcBef>
                <a:spcPts val="0"/>
              </a:spcBef>
              <a:spcAft>
                <a:spcPts val="0"/>
              </a:spcAft>
              <a:buNone/>
            </a:pPr>
            <a:r>
              <a:t/>
            </a:r>
            <a:endParaRPr sz="1200">
              <a:solidFill>
                <a:schemeClr val="dk1"/>
              </a:solidFill>
            </a:endParaRPr>
          </a:p>
        </p:txBody>
      </p:sp>
      <p:pic>
        <p:nvPicPr>
          <p:cNvPr descr="/mnt/data/template_logo.png" id="246" name="Google Shape;246;g3d62a2c1f65_0_105"/>
          <p:cNvPicPr preferRelativeResize="0"/>
          <p:nvPr/>
        </p:nvPicPr>
        <p:blipFill rotWithShape="1">
          <a:blip r:embed="rId6">
            <a:alphaModFix/>
          </a:blip>
          <a:srcRect b="0" l="0" r="0" t="0"/>
          <a:stretch/>
        </p:blipFill>
        <p:spPr>
          <a:xfrm>
            <a:off x="320040" y="5925312"/>
            <a:ext cx="822960" cy="7178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2026-04-14T14:11:02Z</dcterms:created>
  <dc:creator>OpenAI</dc:creator>
</cp:coreProperties>
</file>