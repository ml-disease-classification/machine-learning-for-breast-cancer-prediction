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12192000"/>
  <p:embeddedFontLst>
    <p:embeddedFont>
      <p:font typeface="Proxima Nova"/>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jKG6zbKp25+CgkT8t2uDmlt+Yw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E10B371-77CB-4539-B31B-7DD1470C4C9F}">
  <a:tblStyle styleId="{BE10B371-77CB-4539-B31B-7DD1470C4C9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 name="Google Shape;1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15" name="Google Shape;15;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marR="0" rtl="0" algn="l">
              <a:lnSpc>
                <a:spcPct val="100000"/>
              </a:lnSpc>
              <a:spcBef>
                <a:spcPts val="0"/>
              </a:spcBef>
              <a:spcAft>
                <a:spcPts val="0"/>
              </a:spcAft>
              <a:buClr>
                <a:schemeClr val="dk1"/>
              </a:buClr>
              <a:buSzPts val="1200"/>
              <a:buFont typeface="Arial"/>
              <a:buChar char="-"/>
            </a:pPr>
            <a:r>
              <a:t/>
            </a:r>
            <a:endParaRPr/>
          </a:p>
        </p:txBody>
      </p:sp>
      <p:sp>
        <p:nvSpPr>
          <p:cNvPr id="24" name="Google Shape;2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g3da9dcd7c0f_0_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 name="Google Shape;34;g3da9dcd7c0f_0_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a:p>
        </p:txBody>
      </p:sp>
      <p:sp>
        <p:nvSpPr>
          <p:cNvPr id="35" name="Google Shape;35;g3da9dcd7c0f_0_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da9dcd7c0f_0_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 name="Google Shape;45;g3da9dcd7c0f_0_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46" name="Google Shape;46;g3da9dcd7c0f_0_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dade11074f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g3dade11074f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55" name="Google Shape;55;g3dade11074f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afb1d02a7_1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g3dafb1d02a7_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[Sources]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UCI Machine Learning Repository, Breast Cancer Wisconsin (Diagnostic): https://archive.ics.uci.edu/dataset/17/breast+cancer+wisconsin+diagnostic (accessed 2026-04-14).</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User-provided notebook: Breast_Cancer_EDA_Notebook.ipynb (fetch code and dataset profile).</a:t>
            </a:r>
            <a:endParaRPr/>
          </a:p>
        </p:txBody>
      </p:sp>
      <p:sp>
        <p:nvSpPr>
          <p:cNvPr id="64" name="Google Shape;64;g3dafb1d02a7_1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ad63bb1a2_0_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g3dad63bb1a2_0_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76" name="Google Shape;76;g3dad63bb1a2_0_8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ad63bb1a2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g3dad63bb1a2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a:p>
        </p:txBody>
      </p:sp>
      <p:sp>
        <p:nvSpPr>
          <p:cNvPr id="85" name="Google Shape;85;g3dad63bb1a2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67041a73d_0_1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g3d67041a73d_0_1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95" name="Google Shape;95;g3d67041a73d_0_16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ad63bb1a2_0_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g3dad63bb1a2_0_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105" name="Google Shape;105;g3dad63bb1a2_0_9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ad63bb1a2_0_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g3dad63bb1a2_0_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marR="0" rtl="0" algn="l">
              <a:lnSpc>
                <a:spcPct val="100000"/>
              </a:lnSpc>
              <a:spcBef>
                <a:spcPts val="0"/>
              </a:spcBef>
              <a:spcAft>
                <a:spcPts val="0"/>
              </a:spcAft>
              <a:buClr>
                <a:schemeClr val="dk1"/>
              </a:buClr>
              <a:buSzPts val="1200"/>
              <a:buFont typeface="Arial"/>
              <a:buChar char="-"/>
            </a:pPr>
            <a:r>
              <a:t/>
            </a:r>
            <a:endParaRPr/>
          </a:p>
        </p:txBody>
      </p:sp>
      <p:sp>
        <p:nvSpPr>
          <p:cNvPr id="118" name="Google Shape;118;g3dad63bb1a2_0_4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685b20fa7_0_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g3d685b20fa7_0_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85750" lvl="0" marL="285750" rtl="0" algn="l">
              <a:lnSpc>
                <a:spcPct val="100000"/>
              </a:lnSpc>
              <a:spcBef>
                <a:spcPts val="0"/>
              </a:spcBef>
              <a:spcAft>
                <a:spcPts val="0"/>
              </a:spcAft>
              <a:buClr>
                <a:srgbClr val="1F2430"/>
              </a:buClr>
              <a:buSzPts val="1620"/>
              <a:buChar char="•"/>
            </a:pPr>
            <a:r>
              <a:rPr lang="en-US" sz="1620">
                <a:solidFill>
                  <a:srgbClr val="1F2430"/>
                </a:solidFill>
              </a:rPr>
              <a:t>Instances on the left are cases where all base models predicted the same outcome; on the right, models disagreed. </a:t>
            </a:r>
            <a:endParaRPr/>
          </a:p>
        </p:txBody>
      </p:sp>
      <p:sp>
        <p:nvSpPr>
          <p:cNvPr id="130" name="Google Shape;130;g3d685b20fa7_0_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a9dcd7c0f_1_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g3da9dcd7c0f_1_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a:p>
        </p:txBody>
      </p:sp>
      <p:sp>
        <p:nvSpPr>
          <p:cNvPr id="141" name="Google Shape;141;g3da9dcd7c0f_1_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67041a73d_0_18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g3d67041a73d_0_18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a:p>
        </p:txBody>
      </p:sp>
      <p:sp>
        <p:nvSpPr>
          <p:cNvPr id="151" name="Google Shape;151;g3d67041a73d_0_18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636c24f7b_2_2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g3d636c24f7b_2_2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a:p>
        </p:txBody>
      </p:sp>
      <p:sp>
        <p:nvSpPr>
          <p:cNvPr id="162" name="Google Shape;162;g3d636c24f7b_2_26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636c24f7b_2_37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g3d636c24f7b_2_37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173" name="Google Shape;173;g3d636c24f7b_2_37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ae9b494f7_0_2: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dae9b494f7_0_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62a2c1f65_0_9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g3d62a2c1f65_0_9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194" name="Google Shape;194;g3d62a2c1f65_0_9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62a2c1f65_0_10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g3d62a2c1f65_0_1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a:p>
        </p:txBody>
      </p:sp>
      <p:sp>
        <p:nvSpPr>
          <p:cNvPr id="203" name="Google Shape;203;g3d62a2c1f65_0_10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 name="Shape 7"/>
        <p:cNvGrpSpPr/>
        <p:nvPr/>
      </p:nvGrpSpPr>
      <p:grpSpPr>
        <a:xfrm>
          <a:off x="0" y="0"/>
          <a:ext cx="0" cy="0"/>
          <a:chOff x="0" y="0"/>
          <a:chExt cx="0" cy="0"/>
        </a:xfrm>
      </p:grpSpPr>
      <p:sp>
        <p:nvSpPr>
          <p:cNvPr id="8" name="Google Shape;8;g3d7722cbdfa_0_10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D9AC63"/>
              </a:buClr>
              <a:buSzPts val="5400"/>
              <a:buFont typeface="Proxima Nova"/>
              <a:buChar char="●"/>
              <a:defRPr b="0" i="1" sz="5400" u="none" cap="none" strike="noStrike">
                <a:solidFill>
                  <a:srgbClr val="D9AC63"/>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 name="Google Shape;9;g3d7722cbdfa_0_107"/>
          <p:cNvSpPr txBox="1"/>
          <p:nvPr>
            <p:ph idx="1" type="body"/>
          </p:nvPr>
        </p:nvSpPr>
        <p:spPr>
          <a:xfrm>
            <a:off x="838200" y="1825625"/>
            <a:ext cx="10515600" cy="37815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00"/>
              </a:buClr>
              <a:buSzPts val="2800"/>
              <a:buFont typeface="Noto Sans Symbols"/>
              <a:buChar char="▪"/>
              <a:defRPr b="0" i="0" sz="1400" u="none" cap="none" strike="noStrike">
                <a:solidFill>
                  <a:srgbClr val="000000"/>
                </a:solidFill>
                <a:latin typeface="Proxima Nova"/>
                <a:ea typeface="Proxima Nova"/>
                <a:cs typeface="Proxima Nova"/>
                <a:sym typeface="Proxima Nova"/>
              </a:defRPr>
            </a:lvl1pPr>
            <a:lvl2pPr indent="-381000" lvl="1" marL="914400" marR="0" rtl="0" algn="l">
              <a:lnSpc>
                <a:spcPct val="90000"/>
              </a:lnSpc>
              <a:spcBef>
                <a:spcPts val="500"/>
              </a:spcBef>
              <a:spcAft>
                <a:spcPts val="0"/>
              </a:spcAft>
              <a:buClr>
                <a:srgbClr val="000000"/>
              </a:buClr>
              <a:buSzPts val="2400"/>
              <a:buFont typeface="Noto Sans Symbols"/>
              <a:buChar char="▪"/>
              <a:defRPr b="0" i="0" sz="1400" u="none" cap="none" strike="noStrike">
                <a:solidFill>
                  <a:srgbClr val="000000"/>
                </a:solidFill>
                <a:latin typeface="Proxima Nova"/>
                <a:ea typeface="Proxima Nova"/>
                <a:cs typeface="Proxima Nova"/>
                <a:sym typeface="Proxima Nova"/>
              </a:defRPr>
            </a:lvl2pPr>
            <a:lvl3pPr indent="-355600" lvl="2" marL="1371600" marR="0" rtl="0" algn="l">
              <a:lnSpc>
                <a:spcPct val="90000"/>
              </a:lnSpc>
              <a:spcBef>
                <a:spcPts val="500"/>
              </a:spcBef>
              <a:spcAft>
                <a:spcPts val="0"/>
              </a:spcAft>
              <a:buClr>
                <a:srgbClr val="000000"/>
              </a:buClr>
              <a:buSzPts val="2000"/>
              <a:buFont typeface="Noto Sans Symbols"/>
              <a:buChar char="▪"/>
              <a:defRPr b="0" i="0" sz="1400" u="none" cap="none" strike="noStrike">
                <a:solidFill>
                  <a:srgbClr val="000000"/>
                </a:solidFill>
                <a:latin typeface="Proxima Nova"/>
                <a:ea typeface="Proxima Nova"/>
                <a:cs typeface="Proxima Nova"/>
                <a:sym typeface="Proxima Nova"/>
              </a:defRPr>
            </a:lvl3pPr>
            <a:lvl4pPr indent="-342900" lvl="3" marL="1828800" marR="0" rtl="0" algn="l">
              <a:lnSpc>
                <a:spcPct val="90000"/>
              </a:lnSpc>
              <a:spcBef>
                <a:spcPts val="500"/>
              </a:spcBef>
              <a:spcAft>
                <a:spcPts val="0"/>
              </a:spcAft>
              <a:buClr>
                <a:srgbClr val="000000"/>
              </a:buClr>
              <a:buSzPts val="1800"/>
              <a:buFont typeface="Noto Sans Symbols"/>
              <a:buChar char="▪"/>
              <a:defRPr b="0" i="0" sz="1400" u="none" cap="none" strike="noStrike">
                <a:solidFill>
                  <a:srgbClr val="000000"/>
                </a:solidFill>
                <a:latin typeface="Proxima Nova"/>
                <a:ea typeface="Proxima Nova"/>
                <a:cs typeface="Proxima Nova"/>
                <a:sym typeface="Proxima Nova"/>
              </a:defRPr>
            </a:lvl4pPr>
            <a:lvl5pPr indent="-342900" lvl="4" marL="2286000" marR="0" rtl="0" algn="l">
              <a:lnSpc>
                <a:spcPct val="90000"/>
              </a:lnSpc>
              <a:spcBef>
                <a:spcPts val="500"/>
              </a:spcBef>
              <a:spcAft>
                <a:spcPts val="0"/>
              </a:spcAft>
              <a:buClr>
                <a:srgbClr val="000000"/>
              </a:buClr>
              <a:buSzPts val="1800"/>
              <a:buFont typeface="Noto Sans Symbols"/>
              <a:buChar char="▪"/>
              <a:defRPr b="0" i="0" sz="1400" u="none" cap="none" strike="noStrike">
                <a:solidFill>
                  <a:srgbClr val="000000"/>
                </a:solidFill>
                <a:latin typeface="Proxima Nova"/>
                <a:ea typeface="Proxima Nova"/>
                <a:cs typeface="Proxima Nova"/>
                <a:sym typeface="Proxima Nova"/>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10" name="Google Shape;10;g3d7722cbdfa_0_10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1344"/>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 name="Google Shape;11;g3d7722cbdfa_0_10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001344"/>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001344"/>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001344"/>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001344"/>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001344"/>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001344"/>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001344"/>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001344"/>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drive.google.com/file/d/1CaE2RAohH_K_6Ylrs01aK8OrwMJ3Nxno/view" TargetMode="External"/><Relationship Id="rId4"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doi.org/10.1080/21681163.2023.2299093" TargetMode="External"/><Relationship Id="rId4" Type="http://schemas.openxmlformats.org/officeDocument/2006/relationships/hyperlink" Target="https://doi.org/10.1016/j.ibmed.2024.100193" TargetMode="External"/><Relationship Id="rId5" Type="http://schemas.openxmlformats.org/officeDocument/2006/relationships/hyperlink" Target="https://doi.org/10.1093/jamia/ocad232" TargetMode="External"/><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 name="Shape 16"/>
        <p:cNvGrpSpPr/>
        <p:nvPr/>
      </p:nvGrpSpPr>
      <p:grpSpPr>
        <a:xfrm>
          <a:off x="0" y="0"/>
          <a:ext cx="0" cy="0"/>
          <a:chOff x="0" y="0"/>
          <a:chExt cx="0" cy="0"/>
        </a:xfrm>
      </p:grpSpPr>
      <p:sp>
        <p:nvSpPr>
          <p:cNvPr id="17" name="Google Shape;17;p1"/>
          <p:cNvSpPr/>
          <p:nvPr/>
        </p:nvSpPr>
        <p:spPr>
          <a:xfrm>
            <a:off x="868675" y="1069325"/>
            <a:ext cx="10652700" cy="17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3600"/>
              <a:buFont typeface="Arial"/>
              <a:buNone/>
            </a:pPr>
            <a:r>
              <a:rPr b="1" lang="en-US" sz="3000">
                <a:solidFill>
                  <a:srgbClr val="0B1F5B"/>
                </a:solidFill>
              </a:rPr>
              <a:t>Breast Cancer Classification Using a Stacking Ensemble Model with Explainable AI-Based Feature Importance Analysis</a:t>
            </a:r>
            <a:r>
              <a:rPr b="1" lang="en-US" sz="3000">
                <a:solidFill>
                  <a:srgbClr val="0B1F5B"/>
                </a:solidFill>
              </a:rPr>
              <a:t> </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BF9000"/>
              </a:buClr>
              <a:buSzPts val="2800"/>
              <a:buFont typeface="Arial"/>
              <a:buNone/>
            </a:pPr>
            <a:r>
              <a:t/>
            </a:r>
            <a:endParaRPr b="0" i="0" sz="2200" u="none" cap="none" strike="noStrike">
              <a:solidFill>
                <a:srgbClr val="BF9000"/>
              </a:solidFill>
              <a:latin typeface="Arial"/>
              <a:ea typeface="Arial"/>
              <a:cs typeface="Arial"/>
              <a:sym typeface="Arial"/>
            </a:endParaRPr>
          </a:p>
        </p:txBody>
      </p:sp>
      <p:cxnSp>
        <p:nvCxnSpPr>
          <p:cNvPr id="18" name="Google Shape;18;p1"/>
          <p:cNvCxnSpPr/>
          <p:nvPr/>
        </p:nvCxnSpPr>
        <p:spPr>
          <a:xfrm>
            <a:off x="868680" y="2698795"/>
            <a:ext cx="10241400" cy="0"/>
          </a:xfrm>
          <a:prstGeom prst="straightConnector1">
            <a:avLst/>
          </a:prstGeom>
          <a:noFill/>
          <a:ln cap="flat" cmpd="sng" w="25400">
            <a:solidFill>
              <a:srgbClr val="B78A2A"/>
            </a:solidFill>
            <a:prstDash val="solid"/>
            <a:round/>
            <a:headEnd len="sm" w="sm" type="none"/>
            <a:tailEnd len="sm" w="sm" type="none"/>
          </a:ln>
        </p:spPr>
      </p:cxnSp>
      <p:pic>
        <p:nvPicPr>
          <p:cNvPr descr="/mnt/data/template_logo.png" id="19" name="Google Shape;19;p1"/>
          <p:cNvPicPr preferRelativeResize="0"/>
          <p:nvPr/>
        </p:nvPicPr>
        <p:blipFill rotWithShape="1">
          <a:blip r:embed="rId3">
            <a:alphaModFix/>
          </a:blip>
          <a:srcRect b="0" l="0" r="0" t="0"/>
          <a:stretch/>
        </p:blipFill>
        <p:spPr>
          <a:xfrm>
            <a:off x="10698480" y="5792724"/>
            <a:ext cx="822960" cy="717804"/>
          </a:xfrm>
          <a:prstGeom prst="rect">
            <a:avLst/>
          </a:prstGeom>
          <a:noFill/>
          <a:ln>
            <a:noFill/>
          </a:ln>
        </p:spPr>
      </p:pic>
      <p:sp>
        <p:nvSpPr>
          <p:cNvPr id="20" name="Google Shape;20;p1"/>
          <p:cNvSpPr txBox="1"/>
          <p:nvPr/>
        </p:nvSpPr>
        <p:spPr>
          <a:xfrm>
            <a:off x="868680" y="3553623"/>
            <a:ext cx="8886900" cy="153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78A2A"/>
                </a:solidFill>
                <a:latin typeface="Arial"/>
                <a:ea typeface="Arial"/>
                <a:cs typeface="Arial"/>
                <a:sym typeface="Arial"/>
              </a:rPr>
              <a:t>CSCI 7090 Data Science and Machine Learning Project</a:t>
            </a:r>
            <a:endParaRPr b="0" i="0" sz="1400" u="none" cap="none" strike="noStrike">
              <a:solidFill>
                <a:srgbClr val="B78A2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Team 1 Members: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Bright Agbenu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Sarah Sejoro</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2"/>
          <p:cNvSpPr/>
          <p:nvPr/>
        </p:nvSpPr>
        <p:spPr>
          <a:xfrm>
            <a:off x="777240" y="384048"/>
            <a:ext cx="95097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Introduction</a:t>
            </a:r>
            <a:endParaRPr b="0" i="0" sz="2800" u="none" cap="none" strike="noStrike">
              <a:solidFill>
                <a:schemeClr val="dk1"/>
              </a:solidFill>
              <a:latin typeface="Arial"/>
              <a:ea typeface="Arial"/>
              <a:cs typeface="Arial"/>
              <a:sym typeface="Arial"/>
            </a:endParaRPr>
          </a:p>
        </p:txBody>
      </p:sp>
      <p:cxnSp>
        <p:nvCxnSpPr>
          <p:cNvPr id="27" name="Google Shape;27;p2"/>
          <p:cNvCxnSpPr/>
          <p:nvPr/>
        </p:nvCxnSpPr>
        <p:spPr>
          <a:xfrm>
            <a:off x="777240" y="932688"/>
            <a:ext cx="10561320" cy="0"/>
          </a:xfrm>
          <a:prstGeom prst="straightConnector1">
            <a:avLst/>
          </a:prstGeom>
          <a:noFill/>
          <a:ln cap="flat" cmpd="sng" w="19050">
            <a:solidFill>
              <a:srgbClr val="B78A2A"/>
            </a:solidFill>
            <a:prstDash val="solid"/>
            <a:round/>
            <a:headEnd len="sm" w="sm" type="none"/>
            <a:tailEnd len="sm" w="sm" type="none"/>
          </a:ln>
        </p:spPr>
      </p:cxnSp>
      <p:sp>
        <p:nvSpPr>
          <p:cNvPr id="28" name="Google Shape;28;p2"/>
          <p:cNvSpPr/>
          <p:nvPr/>
        </p:nvSpPr>
        <p:spPr>
          <a:xfrm>
            <a:off x="502925" y="1316901"/>
            <a:ext cx="5492400" cy="4387200"/>
          </a:xfrm>
          <a:prstGeom prst="rect">
            <a:avLst/>
          </a:prstGeom>
          <a:noFill/>
          <a:ln>
            <a:noFill/>
          </a:ln>
        </p:spPr>
        <p:txBody>
          <a:bodyPr anchorCtr="0" anchor="t" bIns="750" lIns="750" spcFirstLastPara="1" rIns="750" wrap="square" tIns="750">
            <a:noAutofit/>
          </a:bodyPr>
          <a:lstStyle/>
          <a:p>
            <a:pPr indent="-177800" lvl="0" marL="177800" marR="0" rtl="0" algn="l">
              <a:lnSpc>
                <a:spcPct val="100000"/>
              </a:lnSpc>
              <a:spcBef>
                <a:spcPts val="0"/>
              </a:spcBef>
              <a:spcAft>
                <a:spcPts val="0"/>
              </a:spcAft>
              <a:buClr>
                <a:srgbClr val="1F2430"/>
              </a:buClr>
              <a:buSzPts val="1950"/>
              <a:buFont typeface="Arial"/>
              <a:buChar char="•"/>
            </a:pPr>
            <a:r>
              <a:rPr b="0" i="0" lang="en-US" sz="1850" u="none" cap="none" strike="noStrike">
                <a:solidFill>
                  <a:srgbClr val="1F2430"/>
                </a:solidFill>
                <a:latin typeface="Arial"/>
                <a:ea typeface="Arial"/>
                <a:cs typeface="Arial"/>
                <a:sym typeface="Arial"/>
              </a:rPr>
              <a:t>B</a:t>
            </a:r>
            <a:r>
              <a:rPr b="0" i="0" lang="en-US" sz="1950" u="none" cap="none" strike="noStrike">
                <a:solidFill>
                  <a:srgbClr val="1F2430"/>
                </a:solidFill>
                <a:latin typeface="Arial"/>
                <a:ea typeface="Arial"/>
                <a:cs typeface="Arial"/>
                <a:sym typeface="Arial"/>
              </a:rPr>
              <a:t>reast Cancer accounts for approximately 15.5% of new cancer cases and 6.8% of all cancer‑related deaths in 2025</a:t>
            </a:r>
            <a:endParaRPr b="0" i="0" sz="195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rgbClr val="1F2430"/>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950"/>
              <a:buFont typeface="Arial"/>
              <a:buChar char="•"/>
            </a:pPr>
            <a:r>
              <a:rPr b="0" i="0" lang="en-US" sz="1950" u="none" cap="none" strike="noStrike">
                <a:solidFill>
                  <a:srgbClr val="1F2430"/>
                </a:solidFill>
                <a:latin typeface="Arial"/>
                <a:ea typeface="Arial"/>
                <a:cs typeface="Arial"/>
                <a:sym typeface="Arial"/>
              </a:rPr>
              <a:t>5‑year relative survival rate of nearly 91.7%. (CDC, 2025)</a:t>
            </a:r>
            <a:endParaRPr b="0" i="0" sz="195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rgbClr val="1F2430"/>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950"/>
              <a:buFont typeface="Arial"/>
              <a:buChar char="•"/>
            </a:pPr>
            <a:r>
              <a:rPr b="0" i="0" lang="en-US" sz="1950" u="none" cap="none" strike="noStrike">
                <a:solidFill>
                  <a:srgbClr val="1F2430"/>
                </a:solidFill>
                <a:latin typeface="Arial"/>
                <a:ea typeface="Arial"/>
                <a:cs typeface="Arial"/>
                <a:sym typeface="Arial"/>
              </a:rPr>
              <a:t>13% lifetime risk in women and 1% lifetime risk in men (ACS, 2026)</a:t>
            </a:r>
            <a:endParaRPr b="0" i="0" sz="195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rgbClr val="1F2430"/>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950"/>
              <a:buFont typeface="Arial"/>
              <a:buChar char="•"/>
            </a:pPr>
            <a:r>
              <a:rPr b="0" i="0" lang="en-US" sz="1950" u="none" cap="none" strike="noStrike">
                <a:solidFill>
                  <a:srgbClr val="1F2430"/>
                </a:solidFill>
                <a:latin typeface="Arial"/>
                <a:ea typeface="Arial"/>
                <a:cs typeface="Arial"/>
                <a:sym typeface="Arial"/>
              </a:rPr>
              <a:t>Leading cause of mortality in women worldwide</a:t>
            </a:r>
            <a:endParaRPr b="0" i="0" sz="195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rgbClr val="1F2430"/>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950"/>
              <a:buFont typeface="Arial"/>
              <a:buChar char="•"/>
            </a:pPr>
            <a:r>
              <a:rPr b="0" i="0" lang="en-US" sz="1950" u="none" cap="none" strike="noStrike">
                <a:solidFill>
                  <a:srgbClr val="1F2430"/>
                </a:solidFill>
                <a:latin typeface="Arial"/>
                <a:ea typeface="Arial"/>
                <a:cs typeface="Arial"/>
                <a:sym typeface="Arial"/>
              </a:rPr>
              <a:t>Early and </a:t>
            </a:r>
            <a:r>
              <a:rPr lang="en-US" sz="1950">
                <a:solidFill>
                  <a:srgbClr val="1F2430"/>
                </a:solidFill>
              </a:rPr>
              <a:t>accurate </a:t>
            </a:r>
            <a:r>
              <a:rPr b="0" i="0" lang="en-US" sz="1950" u="none" cap="none" strike="noStrike">
                <a:solidFill>
                  <a:srgbClr val="1F2430"/>
                </a:solidFill>
                <a:latin typeface="Arial"/>
                <a:ea typeface="Arial"/>
                <a:cs typeface="Arial"/>
                <a:sym typeface="Arial"/>
              </a:rPr>
              <a:t>diagnostic interventions are essential</a:t>
            </a:r>
            <a:endParaRPr b="0" i="0" sz="195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650"/>
              <a:buFont typeface="Arial"/>
              <a:buNone/>
            </a:pPr>
            <a:r>
              <a:t/>
            </a:r>
            <a:endParaRPr b="0" i="0" sz="1650" u="none" cap="none" strike="noStrike">
              <a:solidFill>
                <a:schemeClr val="dk1"/>
              </a:solidFill>
              <a:latin typeface="Arial"/>
              <a:ea typeface="Arial"/>
              <a:cs typeface="Arial"/>
              <a:sym typeface="Arial"/>
            </a:endParaRPr>
          </a:p>
        </p:txBody>
      </p:sp>
      <p:pic>
        <p:nvPicPr>
          <p:cNvPr descr="/mnt/data/template_logo.png" id="29" name="Google Shape;29;p2"/>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30" name="Google Shape;30;p2"/>
          <p:cNvSpPr/>
          <p:nvPr/>
        </p:nvSpPr>
        <p:spPr>
          <a:xfrm>
            <a:off x="7867210" y="1097310"/>
            <a:ext cx="21030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300"/>
              <a:buFont typeface="Arial"/>
              <a:buNone/>
            </a:pPr>
            <a:r>
              <a:rPr b="1" i="0" lang="en-US" sz="1300" u="none" cap="none" strike="noStrike">
                <a:solidFill>
                  <a:srgbClr val="B78A2A"/>
                </a:solidFill>
                <a:latin typeface="Arial"/>
                <a:ea typeface="Arial"/>
                <a:cs typeface="Arial"/>
                <a:sym typeface="Arial"/>
              </a:rPr>
              <a:t>Images of Breast Cancer</a:t>
            </a:r>
            <a:endParaRPr b="0" i="0" sz="1300" u="none" cap="none" strike="noStrike">
              <a:solidFill>
                <a:schemeClr val="dk1"/>
              </a:solidFill>
              <a:latin typeface="Arial"/>
              <a:ea typeface="Arial"/>
              <a:cs typeface="Arial"/>
              <a:sym typeface="Arial"/>
            </a:endParaRPr>
          </a:p>
        </p:txBody>
      </p:sp>
      <p:pic>
        <p:nvPicPr>
          <p:cNvPr id="31" name="Google Shape;31;p2"/>
          <p:cNvPicPr preferRelativeResize="0"/>
          <p:nvPr/>
        </p:nvPicPr>
        <p:blipFill rotWithShape="1">
          <a:blip r:embed="rId4">
            <a:alphaModFix/>
          </a:blip>
          <a:srcRect b="0" l="0" r="0" t="0"/>
          <a:stretch/>
        </p:blipFill>
        <p:spPr>
          <a:xfrm>
            <a:off x="7229675" y="1395321"/>
            <a:ext cx="3887625" cy="3906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g3da9dcd7c0f_0_35"/>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Why the study matters</a:t>
            </a:r>
            <a:endParaRPr b="0" i="0" sz="2800" u="none" cap="none" strike="noStrike">
              <a:solidFill>
                <a:schemeClr val="dk1"/>
              </a:solidFill>
              <a:latin typeface="Arial"/>
              <a:ea typeface="Arial"/>
              <a:cs typeface="Arial"/>
              <a:sym typeface="Arial"/>
            </a:endParaRPr>
          </a:p>
        </p:txBody>
      </p:sp>
      <p:cxnSp>
        <p:nvCxnSpPr>
          <p:cNvPr id="38" name="Google Shape;38;g3da9dcd7c0f_0_35"/>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39" name="Google Shape;39;g3da9dcd7c0f_0_35"/>
          <p:cNvSpPr/>
          <p:nvPr/>
        </p:nvSpPr>
        <p:spPr>
          <a:xfrm>
            <a:off x="502925" y="1316901"/>
            <a:ext cx="5492400" cy="4387200"/>
          </a:xfrm>
          <a:prstGeom prst="rect">
            <a:avLst/>
          </a:prstGeom>
          <a:noFill/>
          <a:ln>
            <a:noFill/>
          </a:ln>
        </p:spPr>
        <p:txBody>
          <a:bodyPr anchorCtr="0" anchor="t" bIns="750" lIns="750" spcFirstLastPara="1" rIns="750" wrap="square" tIns="750">
            <a:noAutofit/>
          </a:bodyPr>
          <a:lstStyle/>
          <a:p>
            <a:pPr indent="0" lvl="0" marL="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1F2430"/>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950"/>
              <a:buFont typeface="Arial"/>
              <a:buChar char="•"/>
            </a:pPr>
            <a:r>
              <a:rPr lang="en-US" sz="1850">
                <a:solidFill>
                  <a:srgbClr val="1F2430"/>
                </a:solidFill>
              </a:rPr>
              <a:t>Use e</a:t>
            </a:r>
            <a:r>
              <a:rPr b="0" i="0" lang="en-US" sz="1950" u="none" cap="none" strike="noStrike">
                <a:solidFill>
                  <a:srgbClr val="1F2430"/>
                </a:solidFill>
                <a:latin typeface="Arial"/>
                <a:ea typeface="Arial"/>
                <a:cs typeface="Arial"/>
                <a:sym typeface="Arial"/>
              </a:rPr>
              <a:t>nsemble machine learning models that can help improve predictive accuracy of breast cancer</a:t>
            </a:r>
            <a:endParaRPr b="0" i="0" sz="195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rgbClr val="1F2430"/>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950"/>
              <a:buFont typeface="Arial"/>
              <a:buChar char="•"/>
            </a:pPr>
            <a:r>
              <a:rPr b="0" i="0" lang="en-US" sz="1850" u="none" cap="none" strike="noStrike">
                <a:solidFill>
                  <a:srgbClr val="1F2430"/>
                </a:solidFill>
                <a:latin typeface="Arial"/>
                <a:ea typeface="Arial"/>
                <a:cs typeface="Arial"/>
                <a:sym typeface="Arial"/>
              </a:rPr>
              <a:t>Limited studies on interpretability and explainability aspects of breast cancer prediction in DS/ ML models.</a:t>
            </a:r>
            <a:endParaRPr b="0" i="0" sz="185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1F2430"/>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950"/>
              <a:buFont typeface="Arial"/>
              <a:buChar char="•"/>
            </a:pPr>
            <a:r>
              <a:rPr b="0" i="0" lang="en-US" sz="1950" u="none" cap="none" strike="noStrike">
                <a:solidFill>
                  <a:srgbClr val="1F2430"/>
                </a:solidFill>
                <a:latin typeface="Arial"/>
                <a:ea typeface="Arial"/>
                <a:cs typeface="Arial"/>
                <a:sym typeface="Arial"/>
              </a:rPr>
              <a:t>To evaluate whether XAI features are consistent across models</a:t>
            </a:r>
            <a:r>
              <a:rPr lang="en-US" sz="1950">
                <a:solidFill>
                  <a:srgbClr val="1F2430"/>
                </a:solidFill>
              </a:rPr>
              <a:t>and identify</a:t>
            </a:r>
            <a:r>
              <a:rPr b="0" i="0" lang="en-US" sz="1950" u="none" cap="none" strike="noStrike">
                <a:solidFill>
                  <a:srgbClr val="1F2430"/>
                </a:solidFill>
                <a:latin typeface="Arial"/>
                <a:ea typeface="Arial"/>
                <a:cs typeface="Arial"/>
                <a:sym typeface="Arial"/>
              </a:rPr>
              <a:t> stable biomarkers in breast cancer diagnosis.</a:t>
            </a:r>
            <a:endParaRPr b="0" i="0" sz="195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850"/>
              <a:buFont typeface="Arial"/>
              <a:buNone/>
            </a:pPr>
            <a:r>
              <a:t/>
            </a:r>
            <a:endParaRPr b="0" i="0" sz="185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650"/>
              <a:buFont typeface="Arial"/>
              <a:buNone/>
            </a:pPr>
            <a:r>
              <a:t/>
            </a:r>
            <a:endParaRPr b="0" i="0" sz="1650" u="none" cap="none" strike="noStrike">
              <a:solidFill>
                <a:schemeClr val="dk1"/>
              </a:solidFill>
              <a:latin typeface="Arial"/>
              <a:ea typeface="Arial"/>
              <a:cs typeface="Arial"/>
              <a:sym typeface="Arial"/>
            </a:endParaRPr>
          </a:p>
        </p:txBody>
      </p:sp>
      <p:pic>
        <p:nvPicPr>
          <p:cNvPr descr="/mnt/data/template_logo.png" id="40" name="Google Shape;40;g3da9dcd7c0f_0_35"/>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41" name="Google Shape;41;g3da9dcd7c0f_0_35"/>
          <p:cNvSpPr/>
          <p:nvPr/>
        </p:nvSpPr>
        <p:spPr>
          <a:xfrm>
            <a:off x="7867210" y="1097310"/>
            <a:ext cx="21030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300"/>
              <a:buFont typeface="Arial"/>
              <a:buNone/>
            </a:pPr>
            <a:r>
              <a:rPr b="1" i="0" lang="en-US" sz="1300" u="none" cap="none" strike="noStrike">
                <a:solidFill>
                  <a:srgbClr val="B78A2A"/>
                </a:solidFill>
                <a:latin typeface="Arial"/>
                <a:ea typeface="Arial"/>
                <a:cs typeface="Arial"/>
                <a:sym typeface="Arial"/>
              </a:rPr>
              <a:t>Images of Breast Cancer</a:t>
            </a:r>
            <a:endParaRPr b="0" i="0" sz="1300" u="none" cap="none" strike="noStrike">
              <a:solidFill>
                <a:schemeClr val="dk1"/>
              </a:solidFill>
              <a:latin typeface="Arial"/>
              <a:ea typeface="Arial"/>
              <a:cs typeface="Arial"/>
              <a:sym typeface="Arial"/>
            </a:endParaRPr>
          </a:p>
        </p:txBody>
      </p:sp>
      <p:pic>
        <p:nvPicPr>
          <p:cNvPr id="42" name="Google Shape;42;g3da9dcd7c0f_0_35"/>
          <p:cNvPicPr preferRelativeResize="0"/>
          <p:nvPr/>
        </p:nvPicPr>
        <p:blipFill rotWithShape="1">
          <a:blip r:embed="rId4">
            <a:alphaModFix/>
          </a:blip>
          <a:srcRect b="0" l="0" r="0" t="0"/>
          <a:stretch/>
        </p:blipFill>
        <p:spPr>
          <a:xfrm>
            <a:off x="7229675" y="1395321"/>
            <a:ext cx="3887625" cy="3906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g3da9dcd7c0f_0_20"/>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Research Questions </a:t>
            </a:r>
            <a:endParaRPr b="0" i="0" sz="2800" u="none" cap="none" strike="noStrike">
              <a:solidFill>
                <a:schemeClr val="dk1"/>
              </a:solidFill>
              <a:latin typeface="Arial"/>
              <a:ea typeface="Arial"/>
              <a:cs typeface="Arial"/>
              <a:sym typeface="Arial"/>
            </a:endParaRPr>
          </a:p>
        </p:txBody>
      </p:sp>
      <p:cxnSp>
        <p:nvCxnSpPr>
          <p:cNvPr id="49" name="Google Shape;49;g3da9dcd7c0f_0_20"/>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50" name="Google Shape;50;g3da9dcd7c0f_0_20"/>
          <p:cNvSpPr/>
          <p:nvPr/>
        </p:nvSpPr>
        <p:spPr>
          <a:xfrm>
            <a:off x="561550" y="1235400"/>
            <a:ext cx="10992600" cy="4773600"/>
          </a:xfrm>
          <a:prstGeom prst="rect">
            <a:avLst/>
          </a:prstGeom>
          <a:noFill/>
          <a:ln>
            <a:noFill/>
          </a:ln>
        </p:spPr>
        <p:txBody>
          <a:bodyPr anchorCtr="0" anchor="t" bIns="750" lIns="750" spcFirstLastPara="1" rIns="750" wrap="square" tIns="750">
            <a:noAutofit/>
          </a:bodyPr>
          <a:lstStyle/>
          <a:p>
            <a:pPr indent="-177800" lvl="0" marL="177800" marR="0" rtl="0" algn="l">
              <a:lnSpc>
                <a:spcPct val="100000"/>
              </a:lnSpc>
              <a:spcBef>
                <a:spcPts val="0"/>
              </a:spcBef>
              <a:spcAft>
                <a:spcPts val="0"/>
              </a:spcAft>
              <a:buClr>
                <a:srgbClr val="1F2430"/>
              </a:buClr>
              <a:buSzPts val="1950"/>
              <a:buFont typeface="Arial"/>
              <a:buChar char="•"/>
            </a:pPr>
            <a:r>
              <a:rPr b="0" i="0" lang="en-US" sz="1950" u="none" cap="none" strike="noStrike">
                <a:solidFill>
                  <a:srgbClr val="1F2430"/>
                </a:solidFill>
                <a:latin typeface="Arial"/>
                <a:ea typeface="Arial"/>
                <a:cs typeface="Arial"/>
                <a:sym typeface="Arial"/>
              </a:rPr>
              <a:t>RQ 1: Can ensemble machine learning models improve predictive accuracy and diagnostic performance</a:t>
            </a:r>
            <a:r>
              <a:rPr lang="en-US" sz="1950">
                <a:solidFill>
                  <a:srgbClr val="1F2430"/>
                </a:solidFill>
              </a:rPr>
              <a:t> </a:t>
            </a:r>
            <a:r>
              <a:rPr b="0" i="0" lang="en-US" sz="1950" u="none" cap="none" strike="noStrike">
                <a:solidFill>
                  <a:srgbClr val="1F2430"/>
                </a:solidFill>
                <a:latin typeface="Arial"/>
                <a:ea typeface="Arial"/>
                <a:cs typeface="Arial"/>
                <a:sym typeface="Arial"/>
              </a:rPr>
              <a:t>compared to individual models?</a:t>
            </a:r>
            <a:endParaRPr b="0" i="0" sz="195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rgbClr val="1F2430"/>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950"/>
              <a:buFont typeface="Arial"/>
              <a:buChar char="•"/>
            </a:pPr>
            <a:r>
              <a:rPr b="0" i="0" lang="en-US" sz="1950" u="none" cap="none" strike="noStrike">
                <a:solidFill>
                  <a:srgbClr val="1F2430"/>
                </a:solidFill>
                <a:latin typeface="Arial"/>
                <a:ea typeface="Arial"/>
                <a:cs typeface="Arial"/>
                <a:sym typeface="Arial"/>
              </a:rPr>
              <a:t>RQ </a:t>
            </a:r>
            <a:r>
              <a:rPr lang="en-US" sz="1950">
                <a:solidFill>
                  <a:srgbClr val="1F2430"/>
                </a:solidFill>
              </a:rPr>
              <a:t>2</a:t>
            </a:r>
            <a:r>
              <a:rPr b="0" i="0" lang="en-US" sz="1950" u="none" cap="none" strike="noStrike">
                <a:solidFill>
                  <a:srgbClr val="1F2430"/>
                </a:solidFill>
                <a:latin typeface="Arial"/>
                <a:ea typeface="Arial"/>
                <a:cs typeface="Arial"/>
                <a:sym typeface="Arial"/>
              </a:rPr>
              <a:t>: What combination of ensemble methods with explainable AI (XAI) can improve breast cancer prediction and interpretability?</a:t>
            </a:r>
            <a:endParaRPr b="0" i="0" sz="1950" u="none" cap="none" strike="noStrike">
              <a:solidFill>
                <a:srgbClr val="1F243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50"/>
              <a:buFont typeface="Arial"/>
              <a:buNone/>
            </a:pPr>
            <a:r>
              <a:t/>
            </a:r>
            <a:endParaRPr b="0" i="0" sz="1950" u="none" cap="none" strike="noStrike">
              <a:solidFill>
                <a:srgbClr val="1F2430"/>
              </a:solidFill>
              <a:latin typeface="Arial"/>
              <a:ea typeface="Arial"/>
              <a:cs typeface="Arial"/>
              <a:sym typeface="Arial"/>
            </a:endParaRPr>
          </a:p>
          <a:p>
            <a:pPr indent="-177800" lvl="0" marL="177800" marR="0" rtl="0" algn="l">
              <a:lnSpc>
                <a:spcPct val="100000"/>
              </a:lnSpc>
              <a:spcBef>
                <a:spcPts val="0"/>
              </a:spcBef>
              <a:spcAft>
                <a:spcPts val="0"/>
              </a:spcAft>
              <a:buClr>
                <a:schemeClr val="dk1"/>
              </a:buClr>
              <a:buSzPts val="1950"/>
              <a:buFont typeface="Arial"/>
              <a:buChar char="•"/>
            </a:pPr>
            <a:r>
              <a:rPr b="0" i="0" lang="en-US" sz="1950" u="none" cap="none" strike="noStrike">
                <a:solidFill>
                  <a:schemeClr val="dk1"/>
                </a:solidFill>
                <a:latin typeface="Arial"/>
                <a:ea typeface="Arial"/>
                <a:cs typeface="Arial"/>
                <a:sym typeface="Arial"/>
              </a:rPr>
              <a:t>RQ </a:t>
            </a:r>
            <a:r>
              <a:rPr lang="en-US" sz="1950">
                <a:solidFill>
                  <a:schemeClr val="dk1"/>
                </a:solidFill>
              </a:rPr>
              <a:t>3</a:t>
            </a:r>
            <a:r>
              <a:rPr b="0" i="0" lang="en-US" sz="1950" u="none" cap="none" strike="noStrike">
                <a:solidFill>
                  <a:schemeClr val="dk1"/>
                </a:solidFill>
                <a:latin typeface="Arial"/>
                <a:ea typeface="Arial"/>
                <a:cs typeface="Arial"/>
                <a:sym typeface="Arial"/>
              </a:rPr>
              <a:t>: Which features are consistently identified as important across different XAI methods?</a:t>
            </a:r>
            <a:endParaRPr b="0" i="0" sz="195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chemeClr val="dk1"/>
              </a:solidFill>
              <a:latin typeface="Arial"/>
              <a:ea typeface="Arial"/>
              <a:cs typeface="Arial"/>
              <a:sym typeface="Arial"/>
            </a:endParaRPr>
          </a:p>
          <a:p>
            <a:pPr indent="-177800" lvl="0" marL="177800" marR="0" rtl="0" algn="l">
              <a:lnSpc>
                <a:spcPct val="100000"/>
              </a:lnSpc>
              <a:spcBef>
                <a:spcPts val="0"/>
              </a:spcBef>
              <a:spcAft>
                <a:spcPts val="0"/>
              </a:spcAft>
              <a:buClr>
                <a:schemeClr val="dk1"/>
              </a:buClr>
              <a:buSzPts val="1950"/>
              <a:buFont typeface="Arial"/>
              <a:buChar char="•"/>
            </a:pPr>
            <a:r>
              <a:rPr b="0" i="0" lang="en-US" sz="1950" u="none" cap="none" strike="noStrike">
                <a:solidFill>
                  <a:schemeClr val="dk1"/>
                </a:solidFill>
                <a:latin typeface="Arial"/>
                <a:ea typeface="Arial"/>
                <a:cs typeface="Arial"/>
                <a:sym typeface="Arial"/>
              </a:rPr>
              <a:t>RQ </a:t>
            </a:r>
            <a:r>
              <a:rPr lang="en-US" sz="1950">
                <a:solidFill>
                  <a:schemeClr val="dk1"/>
                </a:solidFill>
              </a:rPr>
              <a:t>4</a:t>
            </a:r>
            <a:r>
              <a:rPr b="0" i="0" lang="en-US" sz="1950" u="none" cap="none" strike="noStrike">
                <a:solidFill>
                  <a:schemeClr val="dk1"/>
                </a:solidFill>
                <a:latin typeface="Arial"/>
                <a:ea typeface="Arial"/>
                <a:cs typeface="Arial"/>
                <a:sym typeface="Arial"/>
              </a:rPr>
              <a:t>: Do different explanation techniques agree on feature importance?</a:t>
            </a:r>
            <a:endParaRPr b="0" i="0" sz="195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50"/>
              <a:buFont typeface="Arial"/>
              <a:buNone/>
            </a:pPr>
            <a:r>
              <a:t/>
            </a:r>
            <a:endParaRPr b="0" i="0" sz="195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chemeClr val="dk1"/>
              </a:solidFill>
              <a:latin typeface="Arial"/>
              <a:ea typeface="Arial"/>
              <a:cs typeface="Arial"/>
              <a:sym typeface="Arial"/>
            </a:endParaRPr>
          </a:p>
        </p:txBody>
      </p:sp>
      <p:pic>
        <p:nvPicPr>
          <p:cNvPr descr="/mnt/data/template_logo.png" id="51" name="Google Shape;51;g3da9dcd7c0f_0_20"/>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g3dade11074f_0_0"/>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lang="en-US" sz="2800">
                <a:solidFill>
                  <a:srgbClr val="0B1F5B"/>
                </a:solidFill>
              </a:rPr>
              <a:t>Updates on Our Team’s Project</a:t>
            </a:r>
            <a:endParaRPr b="0" i="0" sz="2800" u="none" cap="none" strike="noStrike">
              <a:solidFill>
                <a:schemeClr val="dk1"/>
              </a:solidFill>
              <a:latin typeface="Arial"/>
              <a:ea typeface="Arial"/>
              <a:cs typeface="Arial"/>
              <a:sym typeface="Arial"/>
            </a:endParaRPr>
          </a:p>
        </p:txBody>
      </p:sp>
      <p:cxnSp>
        <p:nvCxnSpPr>
          <p:cNvPr id="58" name="Google Shape;58;g3dade11074f_0_0"/>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59" name="Google Shape;59;g3dade11074f_0_0"/>
          <p:cNvSpPr/>
          <p:nvPr/>
        </p:nvSpPr>
        <p:spPr>
          <a:xfrm>
            <a:off x="561550" y="1042200"/>
            <a:ext cx="10992600" cy="4773600"/>
          </a:xfrm>
          <a:prstGeom prst="rect">
            <a:avLst/>
          </a:prstGeom>
          <a:noFill/>
          <a:ln>
            <a:noFill/>
          </a:ln>
        </p:spPr>
        <p:txBody>
          <a:bodyPr anchorCtr="0" anchor="t" bIns="750" lIns="750" spcFirstLastPara="1" rIns="750" wrap="square" tIns="750">
            <a:noAutofit/>
          </a:bodyPr>
          <a:lstStyle/>
          <a:p>
            <a:pPr indent="-177800" lvl="0" marL="177800" marR="0" rtl="0" algn="l">
              <a:lnSpc>
                <a:spcPct val="100000"/>
              </a:lnSpc>
              <a:spcBef>
                <a:spcPts val="0"/>
              </a:spcBef>
              <a:spcAft>
                <a:spcPts val="0"/>
              </a:spcAft>
              <a:buClr>
                <a:srgbClr val="1F2430"/>
              </a:buClr>
              <a:buSzPts val="1950"/>
              <a:buFont typeface="Arial"/>
              <a:buChar char="•"/>
            </a:pPr>
            <a:r>
              <a:rPr lang="en-US" sz="1950">
                <a:solidFill>
                  <a:srgbClr val="1F2430"/>
                </a:solidFill>
              </a:rPr>
              <a:t>Implemented a ML pipeline after data acquisition, preprocessing, and EDA</a:t>
            </a:r>
            <a:endParaRPr b="0" i="0" sz="1950" u="none" cap="none" strike="noStrike">
              <a:solidFill>
                <a:srgbClr val="1F243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50"/>
              <a:buFont typeface="Arial"/>
              <a:buNone/>
            </a:pPr>
            <a:r>
              <a:t/>
            </a:r>
            <a:endParaRPr b="0" i="0" sz="1950" u="none" cap="none" strike="noStrike">
              <a:solidFill>
                <a:srgbClr val="1F2430"/>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950"/>
              <a:buFont typeface="Arial"/>
              <a:buChar char="•"/>
            </a:pPr>
            <a:r>
              <a:rPr lang="en-US" sz="1950">
                <a:solidFill>
                  <a:srgbClr val="1F2430"/>
                </a:solidFill>
              </a:rPr>
              <a:t>Evaluate models’ performance</a:t>
            </a:r>
            <a:endParaRPr b="0" i="0" sz="195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rgbClr val="1F2430"/>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950"/>
              <a:buFont typeface="Arial"/>
              <a:buChar char="•"/>
            </a:pPr>
            <a:r>
              <a:rPr lang="en-US" sz="1950">
                <a:solidFill>
                  <a:srgbClr val="1F2430"/>
                </a:solidFill>
              </a:rPr>
              <a:t>Use XAI for feature importance, correlation, and model </a:t>
            </a:r>
            <a:r>
              <a:rPr lang="en-US" sz="1950">
                <a:solidFill>
                  <a:srgbClr val="1F2430"/>
                </a:solidFill>
              </a:rPr>
              <a:t>agreement</a:t>
            </a:r>
            <a:r>
              <a:rPr lang="en-US" sz="1950">
                <a:solidFill>
                  <a:srgbClr val="1F2430"/>
                </a:solidFill>
              </a:rPr>
              <a:t> analyses.</a:t>
            </a:r>
            <a:endParaRPr b="0" i="0" sz="195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chemeClr val="dk1"/>
              </a:solidFill>
              <a:latin typeface="Arial"/>
              <a:ea typeface="Arial"/>
              <a:cs typeface="Arial"/>
              <a:sym typeface="Arial"/>
            </a:endParaRPr>
          </a:p>
        </p:txBody>
      </p:sp>
      <p:pic>
        <p:nvPicPr>
          <p:cNvPr descr="/mnt/data/template_logo.png" id="60" name="Google Shape;60;g3dade11074f_0_0"/>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g3dafb1d02a7_1_0"/>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Data Acquisition and Inspection</a:t>
            </a:r>
            <a:endParaRPr b="0" i="0" sz="2800" u="none" cap="none" strike="noStrike">
              <a:solidFill>
                <a:schemeClr val="dk1"/>
              </a:solidFill>
              <a:latin typeface="Arial"/>
              <a:ea typeface="Arial"/>
              <a:cs typeface="Arial"/>
              <a:sym typeface="Arial"/>
            </a:endParaRPr>
          </a:p>
        </p:txBody>
      </p:sp>
      <p:cxnSp>
        <p:nvCxnSpPr>
          <p:cNvPr id="67" name="Google Shape;67;g3dafb1d02a7_1_0"/>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68" name="Google Shape;68;g3dafb1d02a7_1_0"/>
          <p:cNvSpPr/>
          <p:nvPr/>
        </p:nvSpPr>
        <p:spPr>
          <a:xfrm>
            <a:off x="1219527" y="1343031"/>
            <a:ext cx="21030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300"/>
              <a:buFont typeface="Arial"/>
              <a:buNone/>
            </a:pPr>
            <a:r>
              <a:rPr b="1" i="0" lang="en-US" sz="1300" u="none" cap="none" strike="noStrike">
                <a:solidFill>
                  <a:srgbClr val="B78A2A"/>
                </a:solidFill>
                <a:latin typeface="Arial"/>
                <a:ea typeface="Arial"/>
                <a:cs typeface="Arial"/>
                <a:sym typeface="Arial"/>
              </a:rPr>
              <a:t>Data Source</a:t>
            </a:r>
            <a:endParaRPr b="0" i="0" sz="1300" u="none" cap="none" strike="noStrike">
              <a:solidFill>
                <a:schemeClr val="dk1"/>
              </a:solidFill>
              <a:latin typeface="Arial"/>
              <a:ea typeface="Arial"/>
              <a:cs typeface="Arial"/>
              <a:sym typeface="Arial"/>
            </a:endParaRPr>
          </a:p>
        </p:txBody>
      </p:sp>
      <p:sp>
        <p:nvSpPr>
          <p:cNvPr id="69" name="Google Shape;69;g3dafb1d02a7_1_0"/>
          <p:cNvSpPr/>
          <p:nvPr/>
        </p:nvSpPr>
        <p:spPr>
          <a:xfrm>
            <a:off x="1142990" y="1769538"/>
            <a:ext cx="9964800" cy="2319900"/>
          </a:xfrm>
          <a:prstGeom prst="rect">
            <a:avLst/>
          </a:prstGeom>
          <a:noFill/>
          <a:ln>
            <a:noFill/>
          </a:ln>
        </p:spPr>
        <p:txBody>
          <a:bodyPr anchorCtr="0" anchor="t" bIns="750" lIns="750" spcFirstLastPara="1" rIns="750" wrap="square" tIns="750">
            <a:noAutofit/>
          </a:bodyPr>
          <a:lstStyle/>
          <a:p>
            <a:pPr indent="-177800" lvl="0" marL="177800" marR="0" rtl="0" algn="l">
              <a:lnSpc>
                <a:spcPct val="100000"/>
              </a:lnSpc>
              <a:spcBef>
                <a:spcPts val="0"/>
              </a:spcBef>
              <a:spcAft>
                <a:spcPts val="0"/>
              </a:spcAft>
              <a:buClr>
                <a:srgbClr val="1F2430"/>
              </a:buClr>
              <a:buSzPts val="1650"/>
              <a:buFont typeface="Arial"/>
              <a:buChar char="•"/>
            </a:pPr>
            <a:r>
              <a:rPr b="0" i="0" lang="en-US" sz="1650" u="none" cap="none" strike="noStrike">
                <a:solidFill>
                  <a:srgbClr val="1F2430"/>
                </a:solidFill>
                <a:latin typeface="Arial"/>
                <a:ea typeface="Arial"/>
                <a:cs typeface="Arial"/>
                <a:sym typeface="Arial"/>
              </a:rPr>
              <a:t>Source: UCI Machine Learning Repository, Breast Cancer Wisconsin (Diagnostic).</a:t>
            </a:r>
            <a:endParaRPr b="0" i="0" sz="1650" u="none" cap="none" strike="noStrike">
              <a:solidFill>
                <a:schemeClr val="dk1"/>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650"/>
              <a:buFont typeface="Arial"/>
              <a:buChar char="•"/>
            </a:pPr>
            <a:r>
              <a:rPr b="0" i="0" lang="en-US" sz="1650" u="none" cap="none" strike="noStrike">
                <a:solidFill>
                  <a:srgbClr val="1F2430"/>
                </a:solidFill>
                <a:latin typeface="Arial"/>
                <a:ea typeface="Arial"/>
                <a:cs typeface="Arial"/>
                <a:sym typeface="Arial"/>
              </a:rPr>
              <a:t>The 30 real-valued predictors come from digitized fine needle aspirate images and describe cell nucleus characteristics.</a:t>
            </a:r>
            <a:endParaRPr b="0" i="0" sz="1650" u="none" cap="none" strike="noStrike">
              <a:solidFill>
                <a:schemeClr val="dk1"/>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650"/>
              <a:buFont typeface="Arial"/>
              <a:buChar char="•"/>
            </a:pPr>
            <a:r>
              <a:rPr b="0" i="0" lang="en-US" sz="1650" u="none" cap="none" strike="noStrike">
                <a:solidFill>
                  <a:srgbClr val="1F2430"/>
                </a:solidFill>
                <a:latin typeface="Arial"/>
                <a:ea typeface="Arial"/>
                <a:cs typeface="Arial"/>
                <a:sym typeface="Arial"/>
              </a:rPr>
              <a:t>The target is a clinically meaningful binary diagnosis label: benign (B) or malignant (M).</a:t>
            </a:r>
            <a:endParaRPr b="0" i="0" sz="1400" u="none" cap="none" strike="noStrike">
              <a:solidFill>
                <a:srgbClr val="000000"/>
              </a:solidFill>
              <a:latin typeface="Arial"/>
              <a:ea typeface="Arial"/>
              <a:cs typeface="Arial"/>
              <a:sym typeface="Arial"/>
            </a:endParaRPr>
          </a:p>
          <a:p>
            <a:pPr indent="-177800" lvl="0" marL="177800" marR="0" rtl="0" algn="l">
              <a:lnSpc>
                <a:spcPct val="100000"/>
              </a:lnSpc>
              <a:spcBef>
                <a:spcPts val="0"/>
              </a:spcBef>
              <a:spcAft>
                <a:spcPts val="0"/>
              </a:spcAft>
              <a:buClr>
                <a:srgbClr val="1F2430"/>
              </a:buClr>
              <a:buSzPts val="1650"/>
              <a:buFont typeface="Arial"/>
              <a:buChar char="•"/>
            </a:pPr>
            <a:r>
              <a:rPr b="0" i="0" lang="en-US" sz="1650" u="none" cap="none" strike="noStrike">
                <a:solidFill>
                  <a:srgbClr val="1F2430"/>
                </a:solidFill>
                <a:latin typeface="Arial"/>
                <a:ea typeface="Arial"/>
                <a:cs typeface="Arial"/>
                <a:sym typeface="Arial"/>
              </a:rPr>
              <a:t>The dataset contained no missing data except one empty column</a:t>
            </a:r>
            <a:endParaRPr b="0" i="0" sz="1650" u="none" cap="none" strike="noStrike">
              <a:solidFill>
                <a:schemeClr val="dk1"/>
              </a:solidFill>
              <a:latin typeface="Arial"/>
              <a:ea typeface="Arial"/>
              <a:cs typeface="Arial"/>
              <a:sym typeface="Arial"/>
            </a:endParaRPr>
          </a:p>
        </p:txBody>
      </p:sp>
      <p:pic>
        <p:nvPicPr>
          <p:cNvPr descr="/mnt/data/template_logo.png" id="70" name="Google Shape;70;g3dafb1d02a7_1_0"/>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pic>
        <p:nvPicPr>
          <p:cNvPr id="71" name="Google Shape;71;g3dafb1d02a7_1_0"/>
          <p:cNvPicPr preferRelativeResize="0"/>
          <p:nvPr/>
        </p:nvPicPr>
        <p:blipFill rotWithShape="1">
          <a:blip r:embed="rId4">
            <a:alphaModFix/>
          </a:blip>
          <a:srcRect b="0" l="0" r="35111" t="33106"/>
          <a:stretch/>
        </p:blipFill>
        <p:spPr>
          <a:xfrm>
            <a:off x="848104" y="3974020"/>
            <a:ext cx="6156742" cy="873015"/>
          </a:xfrm>
          <a:prstGeom prst="rect">
            <a:avLst/>
          </a:prstGeom>
          <a:noFill/>
          <a:ln>
            <a:noFill/>
          </a:ln>
        </p:spPr>
      </p:pic>
      <p:sp>
        <p:nvSpPr>
          <p:cNvPr id="72" name="Google Shape;72;g3dafb1d02a7_1_0"/>
          <p:cNvSpPr/>
          <p:nvPr/>
        </p:nvSpPr>
        <p:spPr>
          <a:xfrm>
            <a:off x="1219521" y="3754429"/>
            <a:ext cx="21030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300"/>
              <a:buFont typeface="Arial"/>
              <a:buNone/>
            </a:pPr>
            <a:r>
              <a:rPr b="1" i="0" lang="en-US" sz="1300" u="none" cap="none" strike="noStrike">
                <a:solidFill>
                  <a:srgbClr val="B78A2A"/>
                </a:solidFill>
                <a:latin typeface="Arial"/>
                <a:ea typeface="Arial"/>
                <a:cs typeface="Arial"/>
                <a:sym typeface="Arial"/>
              </a:rPr>
              <a:t>Data Reference</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3dad63bb1a2_0_81"/>
          <p:cNvSpPr/>
          <p:nvPr/>
        </p:nvSpPr>
        <p:spPr>
          <a:xfrm>
            <a:off x="777251" y="384051"/>
            <a:ext cx="103326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Machine Learning Pipeline for Breast Cancer Classification</a:t>
            </a:r>
            <a:endParaRPr b="0" i="0" sz="2800" u="none" cap="none" strike="noStrike">
              <a:solidFill>
                <a:schemeClr val="dk1"/>
              </a:solidFill>
              <a:latin typeface="Arial"/>
              <a:ea typeface="Arial"/>
              <a:cs typeface="Arial"/>
              <a:sym typeface="Arial"/>
            </a:endParaRPr>
          </a:p>
        </p:txBody>
      </p:sp>
      <p:cxnSp>
        <p:nvCxnSpPr>
          <p:cNvPr id="79" name="Google Shape;79;g3dad63bb1a2_0_81"/>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pic>
        <p:nvPicPr>
          <p:cNvPr id="80" name="Google Shape;80;g3dad63bb1a2_0_81"/>
          <p:cNvPicPr preferRelativeResize="0"/>
          <p:nvPr/>
        </p:nvPicPr>
        <p:blipFill rotWithShape="1">
          <a:blip r:embed="rId3">
            <a:alphaModFix/>
          </a:blip>
          <a:srcRect b="0" l="0" r="0" t="11700"/>
          <a:stretch/>
        </p:blipFill>
        <p:spPr>
          <a:xfrm>
            <a:off x="830750" y="1047750"/>
            <a:ext cx="10225602" cy="4962775"/>
          </a:xfrm>
          <a:prstGeom prst="rect">
            <a:avLst/>
          </a:prstGeom>
          <a:noFill/>
          <a:ln>
            <a:noFill/>
          </a:ln>
        </p:spPr>
      </p:pic>
      <p:pic>
        <p:nvPicPr>
          <p:cNvPr descr="/mnt/data/template_logo.png" id="81" name="Google Shape;81;g3dad63bb1a2_0_81"/>
          <p:cNvPicPr preferRelativeResize="0"/>
          <p:nvPr/>
        </p:nvPicPr>
        <p:blipFill rotWithShape="1">
          <a:blip r:embed="rId4">
            <a:alphaModFix/>
          </a:blip>
          <a:srcRect b="0" l="0" r="0" t="0"/>
          <a:stretch/>
        </p:blipFill>
        <p:spPr>
          <a:xfrm>
            <a:off x="301515" y="5702887"/>
            <a:ext cx="822960" cy="71780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3dad63bb1a2_0_0"/>
          <p:cNvSpPr/>
          <p:nvPr/>
        </p:nvSpPr>
        <p:spPr>
          <a:xfrm>
            <a:off x="678800" y="384000"/>
            <a:ext cx="11107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Final Model Performance Evaluation on Held-out 30% Test Set</a:t>
            </a:r>
            <a:endParaRPr b="0" i="0" sz="2800" u="none" cap="none" strike="noStrike">
              <a:solidFill>
                <a:schemeClr val="dk1"/>
              </a:solidFill>
              <a:latin typeface="Arial"/>
              <a:ea typeface="Arial"/>
              <a:cs typeface="Arial"/>
              <a:sym typeface="Arial"/>
            </a:endParaRPr>
          </a:p>
        </p:txBody>
      </p:sp>
      <p:cxnSp>
        <p:nvCxnSpPr>
          <p:cNvPr id="88" name="Google Shape;88;g3dad63bb1a2_0_0"/>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pic>
        <p:nvPicPr>
          <p:cNvPr descr="/mnt/data/template_logo.png" id="89" name="Google Shape;89;g3dad63bb1a2_0_0"/>
          <p:cNvPicPr preferRelativeResize="0"/>
          <p:nvPr/>
        </p:nvPicPr>
        <p:blipFill rotWithShape="1">
          <a:blip r:embed="rId3">
            <a:alphaModFix/>
          </a:blip>
          <a:srcRect b="0" l="0" r="0" t="0"/>
          <a:stretch/>
        </p:blipFill>
        <p:spPr>
          <a:xfrm>
            <a:off x="397265" y="5706487"/>
            <a:ext cx="822960" cy="717804"/>
          </a:xfrm>
          <a:prstGeom prst="rect">
            <a:avLst/>
          </a:prstGeom>
          <a:noFill/>
          <a:ln>
            <a:noFill/>
          </a:ln>
        </p:spPr>
      </p:pic>
      <p:sp>
        <p:nvSpPr>
          <p:cNvPr id="90" name="Google Shape;90;g3dad63bb1a2_0_0"/>
          <p:cNvSpPr/>
          <p:nvPr/>
        </p:nvSpPr>
        <p:spPr>
          <a:xfrm>
            <a:off x="7867210" y="1097310"/>
            <a:ext cx="21030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300"/>
              <a:buFont typeface="Arial"/>
              <a:buNone/>
            </a:pPr>
            <a:r>
              <a:t/>
            </a:r>
            <a:endParaRPr b="0" i="0" sz="1300" u="none" cap="none" strike="noStrike">
              <a:solidFill>
                <a:schemeClr val="dk1"/>
              </a:solidFill>
              <a:latin typeface="Arial"/>
              <a:ea typeface="Arial"/>
              <a:cs typeface="Arial"/>
              <a:sym typeface="Arial"/>
            </a:endParaRPr>
          </a:p>
        </p:txBody>
      </p:sp>
      <p:graphicFrame>
        <p:nvGraphicFramePr>
          <p:cNvPr id="91" name="Google Shape;91;g3dad63bb1a2_0_0"/>
          <p:cNvGraphicFramePr/>
          <p:nvPr/>
        </p:nvGraphicFramePr>
        <p:xfrm>
          <a:off x="542075" y="1264363"/>
          <a:ext cx="3000000" cy="3000000"/>
        </p:xfrm>
        <a:graphic>
          <a:graphicData uri="http://schemas.openxmlformats.org/drawingml/2006/table">
            <a:tbl>
              <a:tblPr>
                <a:noFill/>
                <a:tableStyleId>{BE10B371-77CB-4539-B31B-7DD1470C4C9F}</a:tableStyleId>
              </a:tblPr>
              <a:tblGrid>
                <a:gridCol w="3081425"/>
                <a:gridCol w="1617875"/>
                <a:gridCol w="1593750"/>
                <a:gridCol w="1723900"/>
                <a:gridCol w="1545450"/>
                <a:gridCol w="1545450"/>
              </a:tblGrid>
              <a:tr h="4953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Model</a:t>
                      </a:r>
                      <a:endParaRPr b="1"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74777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Accuracy</a:t>
                      </a:r>
                      <a:endParaRPr b="1"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Precision</a:t>
                      </a:r>
                      <a:endParaRPr b="1"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Recall</a:t>
                      </a:r>
                      <a:endParaRPr b="1"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F1-score</a:t>
                      </a:r>
                      <a:endParaRPr b="1"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F2-score</a:t>
                      </a:r>
                      <a:endParaRPr b="1"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Logistic Regression</a:t>
                      </a:r>
                      <a:endParaRPr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74777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0.9708</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0.9836</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0.9375</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0.9600</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0.9464</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Random Forest</a:t>
                      </a:r>
                      <a:endParaRPr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0.9649</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0.9677</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0.9375</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0.9524</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0.9434</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K-Nearest Neighbors</a:t>
                      </a:r>
                      <a:endParaRPr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0.9415</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0.9821</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0.8594</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0.9167</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0.8814</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SVC</a:t>
                      </a:r>
                      <a:endParaRPr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0.9649</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0.9833</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0.9219</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0.9516</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0.9335</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XGBoost</a:t>
                      </a:r>
                      <a:endParaRPr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C4C7C5"/>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0.9415</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0.9355</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0.9062</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0.9206</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US" sz="1400" u="none" cap="none" strike="noStrike">
                          <a:solidFill>
                            <a:srgbClr val="1F1F1F"/>
                          </a:solidFill>
                          <a:highlight>
                            <a:srgbClr val="FFFFFF"/>
                          </a:highlight>
                        </a:rPr>
                        <a:t>0.9119</a:t>
                      </a:r>
                      <a:endParaRPr sz="1400" u="none" cap="none" strike="noStrike">
                        <a:solidFill>
                          <a:srgbClr val="1F1F1F"/>
                        </a:solidFill>
                        <a:highlight>
                          <a:srgbClr val="FFFFFF"/>
                        </a:highlight>
                      </a:endParaRPr>
                    </a:p>
                  </a:txBody>
                  <a:tcPr marT="66675" marB="66675" marR="66675" marL="666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Stacking Ensemble</a:t>
                      </a:r>
                      <a:endParaRPr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C4C7C5"/>
                      </a:solidFill>
                      <a:prstDash val="solid"/>
                      <a:round/>
                      <a:headEnd len="sm" w="sm" type="none"/>
                      <a:tailEnd len="sm" w="sm" type="none"/>
                    </a:lnT>
                    <a:lnB cap="flat" cmpd="sng" w="9525">
                      <a:solidFill>
                        <a:srgbClr val="74777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0.9825	</a:t>
                      </a:r>
                      <a:endParaRPr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74777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1F1F1F"/>
                          </a:solidFill>
                        </a:rPr>
                        <a:t>0.9841</a:t>
                      </a:r>
                      <a:r>
                        <a:rPr lang="en-US" sz="1400" u="none" cap="none" strike="noStrike">
                          <a:solidFill>
                            <a:schemeClr val="dk1"/>
                          </a:solidFill>
                        </a:rPr>
                        <a:t> </a:t>
                      </a:r>
                      <a:endParaRPr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74777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0.9688	</a:t>
                      </a:r>
                      <a:endParaRPr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74777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0.9764</a:t>
                      </a:r>
                      <a:endParaRPr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74777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0.9718</a:t>
                      </a:r>
                      <a:endParaRPr sz="1400" u="none" cap="none" strike="noStrike"/>
                    </a:p>
                  </a:txBody>
                  <a:tcPr marT="91425" marB="91425" marR="91425" marL="91425">
                    <a:lnL cap="flat" cmpd="sng" w="9525">
                      <a:solidFill>
                        <a:srgbClr val="C4C7C5"/>
                      </a:solidFill>
                      <a:prstDash val="solid"/>
                      <a:round/>
                      <a:headEnd len="sm" w="sm" type="none"/>
                      <a:tailEnd len="sm" w="sm" type="none"/>
                    </a:lnL>
                    <a:lnR cap="flat" cmpd="sng" w="9525">
                      <a:solidFill>
                        <a:srgbClr val="C4C7C5"/>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747775"/>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d67041a73d_0_164"/>
          <p:cNvSpPr/>
          <p:nvPr/>
        </p:nvSpPr>
        <p:spPr>
          <a:xfrm>
            <a:off x="777251" y="384100"/>
            <a:ext cx="108060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Confusion Matrices for All Models on Held-Out 30% Test Set</a:t>
            </a:r>
            <a:endParaRPr b="0" i="0" sz="2800" u="none" cap="none" strike="noStrike">
              <a:solidFill>
                <a:schemeClr val="dk1"/>
              </a:solidFill>
              <a:latin typeface="Arial"/>
              <a:ea typeface="Arial"/>
              <a:cs typeface="Arial"/>
              <a:sym typeface="Arial"/>
            </a:endParaRPr>
          </a:p>
        </p:txBody>
      </p:sp>
      <p:cxnSp>
        <p:nvCxnSpPr>
          <p:cNvPr id="98" name="Google Shape;98;g3d67041a73d_0_164"/>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pic>
        <p:nvPicPr>
          <p:cNvPr descr="/mnt/data/template_logo.png" id="99" name="Google Shape;99;g3d67041a73d_0_164"/>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100" name="Google Shape;100;g3d67041a73d_0_164"/>
          <p:cNvSpPr/>
          <p:nvPr/>
        </p:nvSpPr>
        <p:spPr>
          <a:xfrm>
            <a:off x="7867210" y="1097310"/>
            <a:ext cx="21030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300"/>
              <a:buFont typeface="Arial"/>
              <a:buNone/>
            </a:pPr>
            <a:r>
              <a:t/>
            </a:r>
            <a:endParaRPr b="0" i="0" sz="1300" u="none" cap="none" strike="noStrike">
              <a:solidFill>
                <a:schemeClr val="dk1"/>
              </a:solidFill>
              <a:latin typeface="Arial"/>
              <a:ea typeface="Arial"/>
              <a:cs typeface="Arial"/>
              <a:sym typeface="Arial"/>
            </a:endParaRPr>
          </a:p>
        </p:txBody>
      </p:sp>
      <p:pic>
        <p:nvPicPr>
          <p:cNvPr id="101" name="Google Shape;101;g3d67041a73d_0_164"/>
          <p:cNvPicPr preferRelativeResize="0"/>
          <p:nvPr/>
        </p:nvPicPr>
        <p:blipFill rotWithShape="1">
          <a:blip r:embed="rId4">
            <a:alphaModFix/>
          </a:blip>
          <a:srcRect b="0" l="0" r="0" t="0"/>
          <a:stretch/>
        </p:blipFill>
        <p:spPr>
          <a:xfrm>
            <a:off x="2408150" y="1097300"/>
            <a:ext cx="7026720" cy="41990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dad63bb1a2_0_94"/>
          <p:cNvSpPr/>
          <p:nvPr/>
        </p:nvSpPr>
        <p:spPr>
          <a:xfrm>
            <a:off x="1703875" y="421525"/>
            <a:ext cx="9020700" cy="446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ROC-AUC &amp; Precision-Recall Curves for All Models </a:t>
            </a:r>
            <a:endParaRPr b="0" i="0" sz="2800" u="none" cap="none" strike="noStrike">
              <a:solidFill>
                <a:schemeClr val="dk1"/>
              </a:solidFill>
              <a:latin typeface="Arial"/>
              <a:ea typeface="Arial"/>
              <a:cs typeface="Arial"/>
              <a:sym typeface="Arial"/>
            </a:endParaRPr>
          </a:p>
        </p:txBody>
      </p:sp>
      <p:cxnSp>
        <p:nvCxnSpPr>
          <p:cNvPr id="108" name="Google Shape;108;g3dad63bb1a2_0_94"/>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pic>
        <p:nvPicPr>
          <p:cNvPr descr="/mnt/data/template_logo.png" id="109" name="Google Shape;109;g3dad63bb1a2_0_94"/>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110" name="Google Shape;110;g3dad63bb1a2_0_94"/>
          <p:cNvSpPr/>
          <p:nvPr/>
        </p:nvSpPr>
        <p:spPr>
          <a:xfrm>
            <a:off x="7867210" y="1097310"/>
            <a:ext cx="21030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300"/>
              <a:buFont typeface="Arial"/>
              <a:buNone/>
            </a:pPr>
            <a:r>
              <a:t/>
            </a:r>
            <a:endParaRPr b="0" i="0" sz="1300" u="none" cap="none" strike="noStrike">
              <a:solidFill>
                <a:schemeClr val="dk1"/>
              </a:solidFill>
              <a:latin typeface="Arial"/>
              <a:ea typeface="Arial"/>
              <a:cs typeface="Arial"/>
              <a:sym typeface="Arial"/>
            </a:endParaRPr>
          </a:p>
        </p:txBody>
      </p:sp>
      <p:grpSp>
        <p:nvGrpSpPr>
          <p:cNvPr id="111" name="Google Shape;111;g3dad63bb1a2_0_94"/>
          <p:cNvGrpSpPr/>
          <p:nvPr/>
        </p:nvGrpSpPr>
        <p:grpSpPr>
          <a:xfrm>
            <a:off x="777238" y="1297588"/>
            <a:ext cx="10659575" cy="3022300"/>
            <a:chOff x="777250" y="1519800"/>
            <a:chExt cx="10659575" cy="3022300"/>
          </a:xfrm>
        </p:grpSpPr>
        <p:pic>
          <p:nvPicPr>
            <p:cNvPr id="112" name="Google Shape;112;g3dad63bb1a2_0_94"/>
            <p:cNvPicPr preferRelativeResize="0"/>
            <p:nvPr/>
          </p:nvPicPr>
          <p:blipFill rotWithShape="1">
            <a:blip r:embed="rId4">
              <a:alphaModFix/>
            </a:blip>
            <a:srcRect b="0" l="0" r="0" t="0"/>
            <a:stretch/>
          </p:blipFill>
          <p:spPr>
            <a:xfrm>
              <a:off x="777250" y="1519800"/>
              <a:ext cx="5198602" cy="2957224"/>
            </a:xfrm>
            <a:prstGeom prst="rect">
              <a:avLst/>
            </a:prstGeom>
            <a:noFill/>
            <a:ln>
              <a:noFill/>
            </a:ln>
          </p:spPr>
        </p:pic>
        <p:pic>
          <p:nvPicPr>
            <p:cNvPr id="113" name="Google Shape;113;g3dad63bb1a2_0_94"/>
            <p:cNvPicPr preferRelativeResize="0"/>
            <p:nvPr/>
          </p:nvPicPr>
          <p:blipFill rotWithShape="1">
            <a:blip r:embed="rId5">
              <a:alphaModFix/>
            </a:blip>
            <a:srcRect b="0" l="0" r="0" t="0"/>
            <a:stretch/>
          </p:blipFill>
          <p:spPr>
            <a:xfrm>
              <a:off x="6170900" y="1546576"/>
              <a:ext cx="5265925" cy="2995524"/>
            </a:xfrm>
            <a:prstGeom prst="rect">
              <a:avLst/>
            </a:prstGeom>
            <a:noFill/>
            <a:ln>
              <a:noFill/>
            </a:ln>
          </p:spPr>
        </p:pic>
      </p:grpSp>
      <p:sp>
        <p:nvSpPr>
          <p:cNvPr id="114" name="Google Shape;114;g3dad63bb1a2_0_94"/>
          <p:cNvSpPr txBox="1"/>
          <p:nvPr/>
        </p:nvSpPr>
        <p:spPr>
          <a:xfrm>
            <a:off x="2535775" y="4684800"/>
            <a:ext cx="8188800" cy="15921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All models showed excellent discrimination, with ROC-AUC values above 0.98 meaning they separated malignant and benign cases very well across thresholds.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The stacking ensemble had the strongest overall precision-recall performance, indicating the best balance between identifying malignant cases and limiting false alarms.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dad63bb1a2_0_43"/>
          <p:cNvSpPr/>
          <p:nvPr/>
        </p:nvSpPr>
        <p:spPr>
          <a:xfrm>
            <a:off x="777251" y="384100"/>
            <a:ext cx="108060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Correlation of Feature importance across models</a:t>
            </a:r>
            <a:endParaRPr b="0" i="0" sz="2800" u="none" cap="none" strike="noStrike">
              <a:solidFill>
                <a:schemeClr val="dk1"/>
              </a:solidFill>
              <a:latin typeface="Arial"/>
              <a:ea typeface="Arial"/>
              <a:cs typeface="Arial"/>
              <a:sym typeface="Arial"/>
            </a:endParaRPr>
          </a:p>
        </p:txBody>
      </p:sp>
      <p:cxnSp>
        <p:nvCxnSpPr>
          <p:cNvPr id="121" name="Google Shape;121;g3dad63bb1a2_0_43"/>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pic>
        <p:nvPicPr>
          <p:cNvPr descr="/mnt/data/template_logo.png" id="122" name="Google Shape;122;g3dad63bb1a2_0_43"/>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123" name="Google Shape;123;g3dad63bb1a2_0_43"/>
          <p:cNvSpPr/>
          <p:nvPr/>
        </p:nvSpPr>
        <p:spPr>
          <a:xfrm>
            <a:off x="7867210" y="1097310"/>
            <a:ext cx="21030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124" name="Google Shape;124;g3dad63bb1a2_0_43"/>
          <p:cNvSpPr/>
          <p:nvPr/>
        </p:nvSpPr>
        <p:spPr>
          <a:xfrm>
            <a:off x="1580650" y="5271950"/>
            <a:ext cx="9757800" cy="13116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0"/>
              </a:spcBef>
              <a:spcAft>
                <a:spcPts val="0"/>
              </a:spcAft>
              <a:buClr>
                <a:schemeClr val="dk1"/>
              </a:buClr>
              <a:buSzPts val="1400"/>
              <a:buFont typeface="Arial"/>
              <a:buChar char="●"/>
            </a:pPr>
            <a:r>
              <a:rPr b="1" i="0" lang="en-US" sz="1400" u="none" cap="none" strike="noStrike">
                <a:solidFill>
                  <a:srgbClr val="1F2430"/>
                </a:solidFill>
                <a:latin typeface="Arial"/>
                <a:ea typeface="Arial"/>
                <a:cs typeface="Arial"/>
                <a:sym typeface="Arial"/>
              </a:rPr>
              <a:t>XGBoost and Random </a:t>
            </a:r>
            <a:r>
              <a:rPr b="1" lang="en-US">
                <a:solidFill>
                  <a:srgbClr val="1F2430"/>
                </a:solidFill>
              </a:rPr>
              <a:t>Forest's</a:t>
            </a:r>
            <a:r>
              <a:rPr b="1" i="0" lang="en-US" sz="1400" u="none" cap="none" strike="noStrike">
                <a:solidFill>
                  <a:srgbClr val="1F2430"/>
                </a:solidFill>
                <a:latin typeface="Arial"/>
                <a:ea typeface="Arial"/>
                <a:cs typeface="Arial"/>
                <a:sym typeface="Arial"/>
              </a:rPr>
              <a:t> </a:t>
            </a:r>
            <a:r>
              <a:rPr b="1" lang="en-US">
                <a:solidFill>
                  <a:srgbClr val="1F2430"/>
                </a:solidFill>
              </a:rPr>
              <a:t>Gi</a:t>
            </a:r>
            <a:r>
              <a:rPr b="1" i="0" lang="en-US" sz="1400" u="none" cap="none" strike="noStrike">
                <a:solidFill>
                  <a:srgbClr val="1F2430"/>
                </a:solidFill>
                <a:latin typeface="Arial"/>
                <a:ea typeface="Arial"/>
                <a:cs typeface="Arial"/>
                <a:sym typeface="Arial"/>
              </a:rPr>
              <a:t>ni importance</a:t>
            </a:r>
            <a:r>
              <a:rPr b="0" i="0" lang="en-US" sz="1400" u="none" cap="none" strike="noStrike">
                <a:solidFill>
                  <a:srgbClr val="1F2430"/>
                </a:solidFill>
                <a:latin typeface="Arial"/>
                <a:ea typeface="Arial"/>
                <a:cs typeface="Arial"/>
                <a:sym typeface="Arial"/>
              </a:rPr>
              <a:t> shows that worst area, worst concave points, worst radius were the most influential in reducing node impurity across RF trees.</a:t>
            </a:r>
            <a:endParaRPr b="0" i="0" sz="1400" u="none" cap="none" strike="noStrike">
              <a:solidFill>
                <a:srgbClr val="1F2430"/>
              </a:solidFill>
              <a:latin typeface="Arial"/>
              <a:ea typeface="Arial"/>
              <a:cs typeface="Arial"/>
              <a:sym typeface="Arial"/>
            </a:endParaRPr>
          </a:p>
          <a:p>
            <a:pPr indent="-317500" lvl="0" marL="457200" marR="0" rtl="0" algn="l">
              <a:lnSpc>
                <a:spcPct val="100000"/>
              </a:lnSpc>
              <a:spcBef>
                <a:spcPts val="0"/>
              </a:spcBef>
              <a:spcAft>
                <a:spcPts val="0"/>
              </a:spcAft>
              <a:buClr>
                <a:srgbClr val="1F2430"/>
              </a:buClr>
              <a:buSzPts val="1400"/>
              <a:buFont typeface="Arial"/>
              <a:buChar char="●"/>
            </a:pPr>
            <a:r>
              <a:rPr b="1" i="0" lang="en-US" sz="1400" u="none" cap="none" strike="noStrike">
                <a:solidFill>
                  <a:srgbClr val="1F2430"/>
                </a:solidFill>
                <a:latin typeface="Arial"/>
                <a:ea typeface="Arial"/>
                <a:cs typeface="Arial"/>
                <a:sym typeface="Arial"/>
              </a:rPr>
              <a:t>Logistic regression</a:t>
            </a:r>
            <a:r>
              <a:rPr b="0" i="0" lang="en-US" sz="1400" u="none" cap="none" strike="noStrike">
                <a:solidFill>
                  <a:srgbClr val="1F2430"/>
                </a:solidFill>
                <a:latin typeface="Arial"/>
                <a:ea typeface="Arial"/>
                <a:cs typeface="Arial"/>
                <a:sym typeface="Arial"/>
              </a:rPr>
              <a:t> feature importance shows us that worst texture, worst concave points, worst radius features were most associated with an increased log odds of malignant breast cancer diagnosis</a:t>
            </a:r>
            <a:endParaRPr b="0" i="0" sz="1400" u="none" cap="none" strike="noStrike">
              <a:solidFill>
                <a:srgbClr val="1F2430"/>
              </a:solidFill>
              <a:latin typeface="Arial"/>
              <a:ea typeface="Arial"/>
              <a:cs typeface="Arial"/>
              <a:sym typeface="Arial"/>
            </a:endParaRPr>
          </a:p>
          <a:p>
            <a:pPr indent="-317500" lvl="0" marL="457200" marR="0" rtl="0" algn="l">
              <a:lnSpc>
                <a:spcPct val="100000"/>
              </a:lnSpc>
              <a:spcBef>
                <a:spcPts val="0"/>
              </a:spcBef>
              <a:spcAft>
                <a:spcPts val="0"/>
              </a:spcAft>
              <a:buClr>
                <a:srgbClr val="1F2430"/>
              </a:buClr>
              <a:buSzPts val="1400"/>
              <a:buFont typeface="Arial"/>
              <a:buChar char="●"/>
            </a:pPr>
            <a:r>
              <a:rPr b="1" i="0" lang="en-US" sz="1400" u="none" cap="none" strike="noStrike">
                <a:solidFill>
                  <a:srgbClr val="1F2430"/>
                </a:solidFill>
                <a:latin typeface="Arial"/>
                <a:ea typeface="Arial"/>
                <a:cs typeface="Arial"/>
                <a:sym typeface="Arial"/>
              </a:rPr>
              <a:t>KNN permutation</a:t>
            </a:r>
            <a:r>
              <a:rPr b="0" i="0" lang="en-US" sz="1400" u="none" cap="none" strike="noStrike">
                <a:solidFill>
                  <a:srgbClr val="1F2430"/>
                </a:solidFill>
                <a:latin typeface="Arial"/>
                <a:ea typeface="Arial"/>
                <a:cs typeface="Arial"/>
                <a:sym typeface="Arial"/>
              </a:rPr>
              <a:t> importance shows that worst texture, worst radius, worst smoothness are the features that most affect the KNN model's accuracy</a:t>
            </a:r>
            <a:endParaRPr b="1"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pic>
        <p:nvPicPr>
          <p:cNvPr id="125" name="Google Shape;125;g3dad63bb1a2_0_43"/>
          <p:cNvPicPr preferRelativeResize="0"/>
          <p:nvPr/>
        </p:nvPicPr>
        <p:blipFill rotWithShape="1">
          <a:blip r:embed="rId4">
            <a:alphaModFix/>
          </a:blip>
          <a:srcRect b="0" l="0" r="0" t="0"/>
          <a:stretch/>
        </p:blipFill>
        <p:spPr>
          <a:xfrm>
            <a:off x="6165700" y="932701"/>
            <a:ext cx="5080750" cy="4339249"/>
          </a:xfrm>
          <a:prstGeom prst="rect">
            <a:avLst/>
          </a:prstGeom>
          <a:noFill/>
          <a:ln>
            <a:noFill/>
          </a:ln>
        </p:spPr>
      </p:pic>
      <p:pic>
        <p:nvPicPr>
          <p:cNvPr id="126" name="Google Shape;126;g3dad63bb1a2_0_43"/>
          <p:cNvPicPr preferRelativeResize="0"/>
          <p:nvPr/>
        </p:nvPicPr>
        <p:blipFill rotWithShape="1">
          <a:blip r:embed="rId5">
            <a:alphaModFix/>
          </a:blip>
          <a:srcRect b="0" l="0" r="0" t="0"/>
          <a:stretch/>
        </p:blipFill>
        <p:spPr>
          <a:xfrm>
            <a:off x="777250" y="994225"/>
            <a:ext cx="4947125" cy="4216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d685b20fa7_0_28"/>
          <p:cNvSpPr/>
          <p:nvPr/>
        </p:nvSpPr>
        <p:spPr>
          <a:xfrm>
            <a:off x="777250" y="130625"/>
            <a:ext cx="10806000" cy="63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 </a:t>
            </a:r>
            <a:r>
              <a:rPr b="1" lang="en-US" sz="2800">
                <a:solidFill>
                  <a:srgbClr val="0B1F5B"/>
                </a:solidFill>
              </a:rPr>
              <a:t>Predicted Probability of</a:t>
            </a:r>
            <a:r>
              <a:rPr b="1" i="0" lang="en-US" sz="2800" u="none" cap="none" strike="noStrike">
                <a:solidFill>
                  <a:srgbClr val="0B1F5B"/>
                </a:solidFill>
                <a:latin typeface="Arial"/>
                <a:ea typeface="Arial"/>
                <a:cs typeface="Arial"/>
                <a:sym typeface="Arial"/>
              </a:rPr>
              <a:t> Agreement and Disagreement across </a:t>
            </a:r>
            <a:r>
              <a:rPr b="1" lang="en-US" sz="2800">
                <a:solidFill>
                  <a:srgbClr val="0B1F5B"/>
                </a:solidFill>
              </a:rPr>
              <a:t>M</a:t>
            </a:r>
            <a:r>
              <a:rPr b="1" i="0" lang="en-US" sz="2800" u="none" cap="none" strike="noStrike">
                <a:solidFill>
                  <a:srgbClr val="0B1F5B"/>
                </a:solidFill>
                <a:latin typeface="Arial"/>
                <a:ea typeface="Arial"/>
                <a:cs typeface="Arial"/>
                <a:sym typeface="Arial"/>
              </a:rPr>
              <a:t>odels</a:t>
            </a:r>
            <a:endParaRPr b="0" i="0" sz="2800" u="none" cap="none" strike="noStrike">
              <a:solidFill>
                <a:schemeClr val="dk1"/>
              </a:solidFill>
              <a:latin typeface="Arial"/>
              <a:ea typeface="Arial"/>
              <a:cs typeface="Arial"/>
              <a:sym typeface="Arial"/>
            </a:endParaRPr>
          </a:p>
        </p:txBody>
      </p:sp>
      <p:cxnSp>
        <p:nvCxnSpPr>
          <p:cNvPr id="133" name="Google Shape;133;g3d685b20fa7_0_28"/>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pic>
        <p:nvPicPr>
          <p:cNvPr descr="/mnt/data/template_logo.png" id="134" name="Google Shape;134;g3d685b20fa7_0_28"/>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135" name="Google Shape;135;g3d685b20fa7_0_28"/>
          <p:cNvSpPr/>
          <p:nvPr/>
        </p:nvSpPr>
        <p:spPr>
          <a:xfrm>
            <a:off x="7867210" y="1097310"/>
            <a:ext cx="21030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136" name="Google Shape;136;g3d685b20fa7_0_28"/>
          <p:cNvSpPr/>
          <p:nvPr/>
        </p:nvSpPr>
        <p:spPr>
          <a:xfrm>
            <a:off x="7994475" y="1031975"/>
            <a:ext cx="3769500" cy="50514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1F2430"/>
              </a:buClr>
              <a:buSzPts val="1620"/>
              <a:buFont typeface="Arial"/>
              <a:buChar char="•"/>
            </a:pPr>
            <a:r>
              <a:rPr lang="en-US" sz="1620">
                <a:solidFill>
                  <a:srgbClr val="1F2430"/>
                </a:solidFill>
              </a:rPr>
              <a:t>Distribution of </a:t>
            </a:r>
            <a:r>
              <a:rPr b="1" lang="en-US" sz="1620">
                <a:solidFill>
                  <a:srgbClr val="1F2430"/>
                </a:solidFill>
              </a:rPr>
              <a:t>predicted probabilities</a:t>
            </a:r>
            <a:r>
              <a:rPr lang="en-US" sz="1620">
                <a:solidFill>
                  <a:srgbClr val="1F2430"/>
                </a:solidFill>
              </a:rPr>
              <a:t> across models under agreement and disagreement scenarios</a:t>
            </a:r>
            <a:endParaRPr sz="1620">
              <a:solidFill>
                <a:srgbClr val="1F2430"/>
              </a:solidFill>
            </a:endParaRPr>
          </a:p>
          <a:p>
            <a:pPr indent="0" lvl="0" marL="457200" marR="0" rtl="0" algn="l">
              <a:lnSpc>
                <a:spcPct val="100000"/>
              </a:lnSpc>
              <a:spcBef>
                <a:spcPts val="0"/>
              </a:spcBef>
              <a:spcAft>
                <a:spcPts val="0"/>
              </a:spcAft>
              <a:buNone/>
            </a:pPr>
            <a:r>
              <a:t/>
            </a:r>
            <a:endParaRPr sz="1620">
              <a:solidFill>
                <a:srgbClr val="1F2430"/>
              </a:solidFill>
            </a:endParaRPr>
          </a:p>
          <a:p>
            <a:pPr indent="-285750" lvl="0" marL="285750" marR="0" rtl="0" algn="l">
              <a:lnSpc>
                <a:spcPct val="100000"/>
              </a:lnSpc>
              <a:spcBef>
                <a:spcPts val="0"/>
              </a:spcBef>
              <a:spcAft>
                <a:spcPts val="0"/>
              </a:spcAft>
              <a:buClr>
                <a:srgbClr val="1F2430"/>
              </a:buClr>
              <a:buSzPts val="1620"/>
              <a:buFont typeface="Arial"/>
              <a:buChar char="•"/>
            </a:pPr>
            <a:r>
              <a:rPr lang="en-US" sz="1620">
                <a:solidFill>
                  <a:srgbClr val="1F2430"/>
                </a:solidFill>
              </a:rPr>
              <a:t>Near 0.5 → increased uncertainty or disagreement in classification.</a:t>
            </a:r>
            <a:endParaRPr sz="1620">
              <a:solidFill>
                <a:srgbClr val="1F2430"/>
              </a:solidFill>
            </a:endParaRPr>
          </a:p>
          <a:p>
            <a:pPr indent="0" lvl="0" marL="457200" marR="0" rtl="0" algn="l">
              <a:lnSpc>
                <a:spcPct val="100000"/>
              </a:lnSpc>
              <a:spcBef>
                <a:spcPts val="0"/>
              </a:spcBef>
              <a:spcAft>
                <a:spcPts val="0"/>
              </a:spcAft>
              <a:buNone/>
            </a:pPr>
            <a:r>
              <a:t/>
            </a:r>
            <a:endParaRPr sz="1620">
              <a:solidFill>
                <a:srgbClr val="1F2430"/>
              </a:solidFill>
            </a:endParaRPr>
          </a:p>
          <a:p>
            <a:pPr indent="-285750" lvl="0" marL="285750" marR="0" rtl="0" algn="l">
              <a:lnSpc>
                <a:spcPct val="100000"/>
              </a:lnSpc>
              <a:spcBef>
                <a:spcPts val="0"/>
              </a:spcBef>
              <a:spcAft>
                <a:spcPts val="0"/>
              </a:spcAft>
              <a:buClr>
                <a:srgbClr val="1F2430"/>
              </a:buClr>
              <a:buSzPts val="1620"/>
              <a:buChar char="•"/>
            </a:pPr>
            <a:r>
              <a:rPr lang="en-US" sz="1620">
                <a:solidFill>
                  <a:srgbClr val="1F2430"/>
                </a:solidFill>
              </a:rPr>
              <a:t>Near 0 or 1 → Models are consistent  and confident </a:t>
            </a:r>
            <a:r>
              <a:rPr lang="en-US" sz="1620">
                <a:solidFill>
                  <a:srgbClr val="1F2430"/>
                </a:solidFill>
              </a:rPr>
              <a:t>in benign (0) or malignignant (1) classification.</a:t>
            </a:r>
            <a:endParaRPr b="0" i="0" sz="162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620"/>
              <a:buFont typeface="Arial"/>
              <a:buNone/>
            </a:pPr>
            <a:r>
              <a:t/>
            </a:r>
            <a:endParaRPr b="0" i="0" sz="1620" u="none" cap="none" strike="noStrike">
              <a:solidFill>
                <a:srgbClr val="1F2430"/>
              </a:solidFill>
              <a:latin typeface="Arial"/>
              <a:ea typeface="Arial"/>
              <a:cs typeface="Arial"/>
              <a:sym typeface="Arial"/>
            </a:endParaRPr>
          </a:p>
          <a:p>
            <a:pPr indent="-285750" lvl="0" marL="285750" marR="0" rtl="0" algn="l">
              <a:lnSpc>
                <a:spcPct val="100000"/>
              </a:lnSpc>
              <a:spcBef>
                <a:spcPts val="0"/>
              </a:spcBef>
              <a:spcAft>
                <a:spcPts val="0"/>
              </a:spcAft>
              <a:buClr>
                <a:srgbClr val="1F2430"/>
              </a:buClr>
              <a:buSzPts val="1620"/>
              <a:buFont typeface="Arial"/>
              <a:buChar char="•"/>
            </a:pPr>
            <a:r>
              <a:rPr b="0" i="0" lang="en-US" sz="1620" u="none" cap="none" strike="noStrike">
                <a:solidFill>
                  <a:srgbClr val="1F2430"/>
                </a:solidFill>
                <a:latin typeface="Arial"/>
                <a:ea typeface="Arial"/>
                <a:cs typeface="Arial"/>
                <a:sym typeface="Arial"/>
              </a:rPr>
              <a:t>Disagreement cases are important because they may require additional tests or expert review before making a final diagnosis. </a:t>
            </a:r>
            <a:endParaRPr b="0" i="0" sz="162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620"/>
              <a:buFont typeface="Arial"/>
              <a:buNone/>
            </a:pPr>
            <a:r>
              <a:t/>
            </a:r>
            <a:endParaRPr b="0" i="0" sz="1620" u="none" cap="none" strike="noStrike">
              <a:solidFill>
                <a:srgbClr val="1F2430"/>
              </a:solidFill>
              <a:latin typeface="Arial"/>
              <a:ea typeface="Arial"/>
              <a:cs typeface="Arial"/>
              <a:sym typeface="Arial"/>
            </a:endParaRPr>
          </a:p>
          <a:p>
            <a:pPr indent="-285750" lvl="0" marL="285750" marR="0" rtl="0" algn="l">
              <a:lnSpc>
                <a:spcPct val="100000"/>
              </a:lnSpc>
              <a:spcBef>
                <a:spcPts val="0"/>
              </a:spcBef>
              <a:spcAft>
                <a:spcPts val="0"/>
              </a:spcAft>
              <a:buClr>
                <a:srgbClr val="1F2430"/>
              </a:buClr>
              <a:buSzPts val="1620"/>
              <a:buFont typeface="Arial"/>
              <a:buChar char="•"/>
            </a:pPr>
            <a:r>
              <a:rPr b="0" i="0" lang="en-US" sz="1620" u="none" cap="none" strike="noStrike">
                <a:solidFill>
                  <a:srgbClr val="1F2430"/>
                </a:solidFill>
                <a:latin typeface="Arial"/>
                <a:ea typeface="Arial"/>
                <a:cs typeface="Arial"/>
                <a:sym typeface="Arial"/>
              </a:rPr>
              <a:t>The plot shows that our ensemble is confident for most tumors, but it also identifies borderline cases. </a:t>
            </a:r>
            <a:endParaRPr b="0" i="0" sz="1620" u="none" cap="none" strike="noStrike">
              <a:solidFill>
                <a:srgbClr val="1F2430"/>
              </a:solidFill>
              <a:latin typeface="Arial"/>
              <a:ea typeface="Arial"/>
              <a:cs typeface="Arial"/>
              <a:sym typeface="Arial"/>
            </a:endParaRPr>
          </a:p>
        </p:txBody>
      </p:sp>
      <p:pic>
        <p:nvPicPr>
          <p:cNvPr id="137" name="Google Shape;137;g3d685b20fa7_0_28"/>
          <p:cNvPicPr preferRelativeResize="0"/>
          <p:nvPr/>
        </p:nvPicPr>
        <p:blipFill rotWithShape="1">
          <a:blip r:embed="rId4">
            <a:alphaModFix/>
          </a:blip>
          <a:srcRect b="0" l="0" r="0" t="0"/>
          <a:stretch/>
        </p:blipFill>
        <p:spPr>
          <a:xfrm>
            <a:off x="544275" y="1097300"/>
            <a:ext cx="7041480" cy="4230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da9dcd7c0f_1_6"/>
          <p:cNvSpPr/>
          <p:nvPr/>
        </p:nvSpPr>
        <p:spPr>
          <a:xfrm>
            <a:off x="777250" y="384100"/>
            <a:ext cx="110838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 Features with Largest Mean Differences in Disagreement Cases</a:t>
            </a:r>
            <a:endParaRPr b="0" i="0" sz="2800" u="none" cap="none" strike="noStrike">
              <a:solidFill>
                <a:schemeClr val="dk1"/>
              </a:solidFill>
              <a:latin typeface="Arial"/>
              <a:ea typeface="Arial"/>
              <a:cs typeface="Arial"/>
              <a:sym typeface="Arial"/>
            </a:endParaRPr>
          </a:p>
        </p:txBody>
      </p:sp>
      <p:cxnSp>
        <p:nvCxnSpPr>
          <p:cNvPr id="144" name="Google Shape;144;g3da9dcd7c0f_1_6"/>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pic>
        <p:nvPicPr>
          <p:cNvPr descr="/mnt/data/template_logo.png" id="145" name="Google Shape;145;g3da9dcd7c0f_1_6"/>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146" name="Google Shape;146;g3da9dcd7c0f_1_6"/>
          <p:cNvSpPr/>
          <p:nvPr/>
        </p:nvSpPr>
        <p:spPr>
          <a:xfrm>
            <a:off x="7867210" y="1097310"/>
            <a:ext cx="21030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300"/>
              <a:buFont typeface="Arial"/>
              <a:buNone/>
            </a:pPr>
            <a:r>
              <a:t/>
            </a:r>
            <a:endParaRPr b="0" i="0" sz="1300" u="none" cap="none" strike="noStrike">
              <a:solidFill>
                <a:schemeClr val="dk1"/>
              </a:solidFill>
              <a:latin typeface="Arial"/>
              <a:ea typeface="Arial"/>
              <a:cs typeface="Arial"/>
              <a:sym typeface="Arial"/>
            </a:endParaRPr>
          </a:p>
        </p:txBody>
      </p:sp>
      <p:pic>
        <p:nvPicPr>
          <p:cNvPr id="147" name="Google Shape;147;g3da9dcd7c0f_1_6"/>
          <p:cNvPicPr preferRelativeResize="0"/>
          <p:nvPr/>
        </p:nvPicPr>
        <p:blipFill rotWithShape="1">
          <a:blip r:embed="rId4">
            <a:alphaModFix/>
          </a:blip>
          <a:srcRect b="0" l="0" r="0" t="0"/>
          <a:stretch/>
        </p:blipFill>
        <p:spPr>
          <a:xfrm>
            <a:off x="1095100" y="1097301"/>
            <a:ext cx="10001800" cy="2965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d67041a73d_0_187"/>
          <p:cNvSpPr/>
          <p:nvPr/>
        </p:nvSpPr>
        <p:spPr>
          <a:xfrm>
            <a:off x="777251" y="384100"/>
            <a:ext cx="108060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 Top 10 Feature importance Concensus across XAI models</a:t>
            </a:r>
            <a:endParaRPr b="0" i="0" sz="2800" u="none" cap="none" strike="noStrike">
              <a:solidFill>
                <a:schemeClr val="dk1"/>
              </a:solidFill>
              <a:latin typeface="Arial"/>
              <a:ea typeface="Arial"/>
              <a:cs typeface="Arial"/>
              <a:sym typeface="Arial"/>
            </a:endParaRPr>
          </a:p>
        </p:txBody>
      </p:sp>
      <p:cxnSp>
        <p:nvCxnSpPr>
          <p:cNvPr id="154" name="Google Shape;154;g3d67041a73d_0_187"/>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pic>
        <p:nvPicPr>
          <p:cNvPr descr="/mnt/data/template_logo.png" id="155" name="Google Shape;155;g3d67041a73d_0_187"/>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156" name="Google Shape;156;g3d67041a73d_0_187"/>
          <p:cNvSpPr/>
          <p:nvPr/>
        </p:nvSpPr>
        <p:spPr>
          <a:xfrm>
            <a:off x="7867210" y="1097310"/>
            <a:ext cx="21030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157" name="Google Shape;157;g3d67041a73d_0_187"/>
          <p:cNvSpPr/>
          <p:nvPr/>
        </p:nvSpPr>
        <p:spPr>
          <a:xfrm>
            <a:off x="8266025" y="1262350"/>
            <a:ext cx="3524100" cy="48861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1F2430"/>
              </a:buClr>
              <a:buSzPts val="1620"/>
              <a:buFont typeface="Arial"/>
              <a:buChar char="•"/>
            </a:pPr>
            <a:r>
              <a:rPr b="0" i="0" lang="en-US" sz="1620" u="none" cap="none" strike="noStrike">
                <a:solidFill>
                  <a:srgbClr val="1F2430"/>
                </a:solidFill>
                <a:latin typeface="Arial"/>
                <a:ea typeface="Arial"/>
                <a:cs typeface="Arial"/>
                <a:sym typeface="Arial"/>
              </a:rPr>
              <a:t>The Feature consensus-frequency plot shows that worst concave points and worst radius appear in the top 5 features across all four XAI methods, while worst area appears in three models.</a:t>
            </a:r>
            <a:endParaRPr b="0" i="0" sz="1620" u="none" cap="none" strike="noStrike">
              <a:solidFill>
                <a:srgbClr val="1F2430"/>
              </a:solidFill>
              <a:latin typeface="Arial"/>
              <a:ea typeface="Arial"/>
              <a:cs typeface="Arial"/>
              <a:sym typeface="Arial"/>
            </a:endParaRPr>
          </a:p>
        </p:txBody>
      </p:sp>
      <p:pic>
        <p:nvPicPr>
          <p:cNvPr id="158" name="Google Shape;158;g3d67041a73d_0_187"/>
          <p:cNvPicPr preferRelativeResize="0"/>
          <p:nvPr/>
        </p:nvPicPr>
        <p:blipFill rotWithShape="1">
          <a:blip r:embed="rId4">
            <a:alphaModFix/>
          </a:blip>
          <a:srcRect b="0" l="0" r="0" t="0"/>
          <a:stretch/>
        </p:blipFill>
        <p:spPr>
          <a:xfrm>
            <a:off x="666907" y="1262351"/>
            <a:ext cx="6788670" cy="45105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d636c24f7b_2_264"/>
          <p:cNvSpPr/>
          <p:nvPr/>
        </p:nvSpPr>
        <p:spPr>
          <a:xfrm>
            <a:off x="777251" y="384100"/>
            <a:ext cx="108060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SHAP Summary Plot: Stacking Ensemble Model</a:t>
            </a:r>
            <a:endParaRPr b="0" i="0" sz="2800" u="none" cap="none" strike="noStrike">
              <a:solidFill>
                <a:schemeClr val="dk1"/>
              </a:solidFill>
              <a:latin typeface="Arial"/>
              <a:ea typeface="Arial"/>
              <a:cs typeface="Arial"/>
              <a:sym typeface="Arial"/>
            </a:endParaRPr>
          </a:p>
        </p:txBody>
      </p:sp>
      <p:cxnSp>
        <p:nvCxnSpPr>
          <p:cNvPr id="165" name="Google Shape;165;g3d636c24f7b_2_264"/>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pic>
        <p:nvPicPr>
          <p:cNvPr descr="/mnt/data/template_logo.png" id="166" name="Google Shape;166;g3d636c24f7b_2_264"/>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167" name="Google Shape;167;g3d636c24f7b_2_264"/>
          <p:cNvSpPr/>
          <p:nvPr/>
        </p:nvSpPr>
        <p:spPr>
          <a:xfrm>
            <a:off x="7867210" y="1097310"/>
            <a:ext cx="21030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300"/>
              <a:buFont typeface="Arial"/>
              <a:buNone/>
            </a:pPr>
            <a:r>
              <a:t/>
            </a:r>
            <a:endParaRPr b="0" i="0" sz="1300" u="none" cap="none" strike="noStrike">
              <a:solidFill>
                <a:schemeClr val="dk1"/>
              </a:solidFill>
              <a:latin typeface="Arial"/>
              <a:ea typeface="Arial"/>
              <a:cs typeface="Arial"/>
              <a:sym typeface="Arial"/>
            </a:endParaRPr>
          </a:p>
        </p:txBody>
      </p:sp>
      <p:sp>
        <p:nvSpPr>
          <p:cNvPr id="168" name="Google Shape;168;g3d636c24f7b_2_264"/>
          <p:cNvSpPr/>
          <p:nvPr/>
        </p:nvSpPr>
        <p:spPr>
          <a:xfrm>
            <a:off x="7694625" y="1097300"/>
            <a:ext cx="4242300" cy="468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rgbClr val="1F2430"/>
              </a:solidFill>
              <a:latin typeface="Arial"/>
              <a:ea typeface="Arial"/>
              <a:cs typeface="Arial"/>
              <a:sym typeface="Arial"/>
            </a:endParaRPr>
          </a:p>
          <a:p>
            <a:pPr indent="-285750" lvl="0" marL="285750" marR="0" rtl="0" algn="l">
              <a:lnSpc>
                <a:spcPct val="100000"/>
              </a:lnSpc>
              <a:spcBef>
                <a:spcPts val="0"/>
              </a:spcBef>
              <a:spcAft>
                <a:spcPts val="0"/>
              </a:spcAft>
              <a:buClr>
                <a:srgbClr val="1F2430"/>
              </a:buClr>
              <a:buSzPts val="1620"/>
              <a:buFont typeface="Arial"/>
              <a:buChar char="•"/>
            </a:pPr>
            <a:r>
              <a:rPr b="0" i="0" lang="en-US" sz="1620" u="none" cap="none" strike="noStrike">
                <a:solidFill>
                  <a:srgbClr val="1F2430"/>
                </a:solidFill>
                <a:latin typeface="Arial"/>
                <a:ea typeface="Arial"/>
                <a:cs typeface="Arial"/>
                <a:sym typeface="Arial"/>
              </a:rPr>
              <a:t>This plot shows which features matter most in the ensemble in an interpretable way.</a:t>
            </a:r>
            <a:endParaRPr b="0" i="0" sz="162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620"/>
              <a:buFont typeface="Arial"/>
              <a:buNone/>
            </a:pPr>
            <a:r>
              <a:t/>
            </a:r>
            <a:endParaRPr b="0" i="0" sz="1620" u="none" cap="none" strike="noStrike">
              <a:solidFill>
                <a:srgbClr val="1F2430"/>
              </a:solidFill>
              <a:latin typeface="Arial"/>
              <a:ea typeface="Arial"/>
              <a:cs typeface="Arial"/>
              <a:sym typeface="Arial"/>
            </a:endParaRPr>
          </a:p>
          <a:p>
            <a:pPr indent="-285750" lvl="0" marL="285750" marR="0" rtl="0" algn="l">
              <a:lnSpc>
                <a:spcPct val="100000"/>
              </a:lnSpc>
              <a:spcBef>
                <a:spcPts val="0"/>
              </a:spcBef>
              <a:spcAft>
                <a:spcPts val="0"/>
              </a:spcAft>
              <a:buClr>
                <a:srgbClr val="1F2430"/>
              </a:buClr>
              <a:buSzPts val="1620"/>
              <a:buFont typeface="Arial"/>
              <a:buChar char="•"/>
            </a:pPr>
            <a:r>
              <a:rPr b="0" i="0" lang="en-US" sz="1620" u="none" cap="none" strike="noStrike">
                <a:solidFill>
                  <a:srgbClr val="1F2430"/>
                </a:solidFill>
                <a:latin typeface="Arial"/>
                <a:ea typeface="Arial"/>
                <a:cs typeface="Arial"/>
                <a:sym typeface="Arial"/>
              </a:rPr>
              <a:t>SHAP confirms which features consistently influence the logistic regression meta-model, regardless of base model disagreements.</a:t>
            </a:r>
            <a:endParaRPr b="0" i="0" sz="162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620"/>
              <a:buFont typeface="Arial"/>
              <a:buNone/>
            </a:pPr>
            <a:r>
              <a:t/>
            </a:r>
            <a:endParaRPr b="0" i="0" sz="1620" u="none" cap="none" strike="noStrike">
              <a:solidFill>
                <a:srgbClr val="1F2430"/>
              </a:solidFill>
              <a:latin typeface="Arial"/>
              <a:ea typeface="Arial"/>
              <a:cs typeface="Arial"/>
              <a:sym typeface="Arial"/>
            </a:endParaRPr>
          </a:p>
          <a:p>
            <a:pPr indent="-285750" lvl="0" marL="285750" marR="0" rtl="0" algn="l">
              <a:lnSpc>
                <a:spcPct val="100000"/>
              </a:lnSpc>
              <a:spcBef>
                <a:spcPts val="0"/>
              </a:spcBef>
              <a:spcAft>
                <a:spcPts val="0"/>
              </a:spcAft>
              <a:buClr>
                <a:srgbClr val="1F2430"/>
              </a:buClr>
              <a:buSzPts val="1620"/>
              <a:buFont typeface="Arial"/>
              <a:buChar char="•"/>
            </a:pPr>
            <a:r>
              <a:rPr b="0" i="0" lang="en-US" sz="1620" u="none" cap="none" strike="noStrike">
                <a:solidFill>
                  <a:srgbClr val="1F2430"/>
                </a:solidFill>
                <a:latin typeface="Arial"/>
                <a:ea typeface="Arial"/>
                <a:cs typeface="Arial"/>
                <a:sym typeface="Arial"/>
              </a:rPr>
              <a:t>Worst perimeter, worst area, worst radius were ranked high as biomarkers important in breast cancer prediction.</a:t>
            </a:r>
            <a:endParaRPr b="0" i="0" sz="1620" u="none" cap="none" strike="noStrike">
              <a:solidFill>
                <a:srgbClr val="1F243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1620" u="none" cap="none" strike="noStrike">
              <a:solidFill>
                <a:srgbClr val="1F2430"/>
              </a:solidFill>
              <a:latin typeface="Arial"/>
              <a:ea typeface="Arial"/>
              <a:cs typeface="Arial"/>
              <a:sym typeface="Arial"/>
            </a:endParaRPr>
          </a:p>
        </p:txBody>
      </p:sp>
      <p:pic>
        <p:nvPicPr>
          <p:cNvPr id="169" name="Google Shape;169;g3d636c24f7b_2_264"/>
          <p:cNvPicPr preferRelativeResize="0"/>
          <p:nvPr/>
        </p:nvPicPr>
        <p:blipFill rotWithShape="1">
          <a:blip r:embed="rId4">
            <a:alphaModFix/>
          </a:blip>
          <a:srcRect b="0" l="0" r="0" t="0"/>
          <a:stretch/>
        </p:blipFill>
        <p:spPr>
          <a:xfrm>
            <a:off x="1295400" y="920500"/>
            <a:ext cx="6059089" cy="57850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d636c24f7b_2_376"/>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Summary of Findings</a:t>
            </a:r>
            <a:endParaRPr b="0" i="0" sz="2800" u="none" cap="none" strike="noStrike">
              <a:solidFill>
                <a:schemeClr val="dk1"/>
              </a:solidFill>
              <a:latin typeface="Arial"/>
              <a:ea typeface="Arial"/>
              <a:cs typeface="Arial"/>
              <a:sym typeface="Arial"/>
            </a:endParaRPr>
          </a:p>
        </p:txBody>
      </p:sp>
      <p:cxnSp>
        <p:nvCxnSpPr>
          <p:cNvPr id="176" name="Google Shape;176;g3d636c24f7b_2_376"/>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177" name="Google Shape;177;g3d636c24f7b_2_376"/>
          <p:cNvSpPr/>
          <p:nvPr/>
        </p:nvSpPr>
        <p:spPr>
          <a:xfrm>
            <a:off x="883800" y="1097350"/>
            <a:ext cx="5074800" cy="4950600"/>
          </a:xfrm>
          <a:prstGeom prst="rect">
            <a:avLst/>
          </a:prstGeom>
          <a:noFill/>
          <a:ln>
            <a:noFill/>
          </a:ln>
        </p:spPr>
        <p:txBody>
          <a:bodyPr anchorCtr="0" anchor="t" bIns="750" lIns="750" spcFirstLastPara="1" rIns="750" wrap="square" tIns="750">
            <a:noAutofit/>
          </a:bodyPr>
          <a:lstStyle/>
          <a:p>
            <a:pPr indent="-190500" lvl="0" marL="20320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Stacking Ensemble model performed best among all models</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190500" lvl="0" marL="20320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Different models emphasize different diagnostic features</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190500" lvl="0" marL="20320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This study demonstrates that building trust in the use of machine learning in breast cancer diagnostics requires evaluating not only predictive performance, but also the consistency and stability of model explanations.</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190500" lvl="0" marL="20320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Feature importance rankings varied across models and XAI methods, demonstrating that interpretability is model-dependent.</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190500" lvl="0" marL="20320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Stacking ensemble model achieved the best overall classification performance under cross-validation.</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190500" lvl="0" marL="20320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Consensus across models and XAI methods identified consistent predictive diagnostic features such as worst perimeter, worst area, worst radius.</a:t>
            </a:r>
            <a:endParaRPr b="0" i="0" sz="1500" u="none" cap="none" strike="noStrike">
              <a:solidFill>
                <a:schemeClr val="dk1"/>
              </a:solidFill>
              <a:latin typeface="Arial"/>
              <a:ea typeface="Arial"/>
              <a:cs typeface="Arial"/>
              <a:sym typeface="Arial"/>
            </a:endParaRPr>
          </a:p>
        </p:txBody>
      </p:sp>
      <p:pic>
        <p:nvPicPr>
          <p:cNvPr descr="/mnt/data/template_logo.png" id="178" name="Google Shape;178;g3d636c24f7b_2_376"/>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
        <p:nvSpPr>
          <p:cNvPr id="179" name="Google Shape;179;g3d636c24f7b_2_376"/>
          <p:cNvSpPr/>
          <p:nvPr/>
        </p:nvSpPr>
        <p:spPr>
          <a:xfrm>
            <a:off x="6456275" y="1402900"/>
            <a:ext cx="5391900" cy="2390400"/>
          </a:xfrm>
          <a:prstGeom prst="rect">
            <a:avLst/>
          </a:prstGeom>
          <a:noFill/>
          <a:ln>
            <a:noFill/>
          </a:ln>
        </p:spPr>
        <p:txBody>
          <a:bodyPr anchorCtr="0" anchor="t" bIns="750" lIns="750" spcFirstLastPara="1" rIns="750" wrap="square" tIns="750">
            <a:noAutofit/>
          </a:bodyPr>
          <a:lstStyle/>
          <a:p>
            <a:pPr indent="-323850" lvl="0" marL="45720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Agreement, consensus, among heterogenous ensemble and explainable AI methods can be useful in determining important biomarkers in cancer prediction and confidence in findings.</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323850" lvl="0" marL="45720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Useful in Cancer research, genomics, and environmental health.</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323850" lvl="0" marL="45720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Can help provide consistent explainations and increase trust in clinical decisions support.</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180" name="Google Shape;180;g3d636c24f7b_2_376"/>
          <p:cNvSpPr txBox="1"/>
          <p:nvPr/>
        </p:nvSpPr>
        <p:spPr>
          <a:xfrm>
            <a:off x="6681650" y="9677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B78A2A"/>
                </a:solidFill>
                <a:latin typeface="Arial"/>
                <a:ea typeface="Arial"/>
                <a:cs typeface="Arial"/>
                <a:sym typeface="Arial"/>
              </a:rPr>
              <a:t>Real World Application</a:t>
            </a:r>
            <a:endParaRPr b="0" i="0" sz="1400" u="none" cap="none" strike="noStrike">
              <a:solidFill>
                <a:srgbClr val="000000"/>
              </a:solidFill>
              <a:latin typeface="Arial"/>
              <a:ea typeface="Arial"/>
              <a:cs typeface="Arial"/>
              <a:sym typeface="Arial"/>
            </a:endParaRPr>
          </a:p>
        </p:txBody>
      </p:sp>
      <p:sp>
        <p:nvSpPr>
          <p:cNvPr id="181" name="Google Shape;181;g3d636c24f7b_2_376"/>
          <p:cNvSpPr txBox="1"/>
          <p:nvPr/>
        </p:nvSpPr>
        <p:spPr>
          <a:xfrm>
            <a:off x="6681650" y="37359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B78A2A"/>
                </a:solidFill>
                <a:latin typeface="Arial"/>
                <a:ea typeface="Arial"/>
                <a:cs typeface="Arial"/>
                <a:sym typeface="Arial"/>
              </a:rPr>
              <a:t>Limitations</a:t>
            </a:r>
            <a:endParaRPr b="0" i="0" sz="1400" u="none" cap="none" strike="noStrike">
              <a:solidFill>
                <a:srgbClr val="000000"/>
              </a:solidFill>
              <a:latin typeface="Arial"/>
              <a:ea typeface="Arial"/>
              <a:cs typeface="Arial"/>
              <a:sym typeface="Arial"/>
            </a:endParaRPr>
          </a:p>
        </p:txBody>
      </p:sp>
      <p:sp>
        <p:nvSpPr>
          <p:cNvPr id="182" name="Google Shape;182;g3d636c24f7b_2_376"/>
          <p:cNvSpPr txBox="1"/>
          <p:nvPr/>
        </p:nvSpPr>
        <p:spPr>
          <a:xfrm>
            <a:off x="6456275" y="4070925"/>
            <a:ext cx="5483100" cy="646500"/>
          </a:xfrm>
          <a:prstGeom prst="rect">
            <a:avLst/>
          </a:prstGeom>
          <a:noFill/>
          <a:ln>
            <a:noFill/>
          </a:ln>
        </p:spPr>
        <p:txBody>
          <a:bodyPr anchorCtr="0" anchor="t" bIns="91425" lIns="91425" spcFirstLastPara="1" rIns="91425" wrap="square" tIns="91425">
            <a:spAutoFit/>
          </a:bodyPr>
          <a:lstStyle/>
          <a:p>
            <a:pPr indent="-190500" lvl="0" marL="20320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Small dataset</a:t>
            </a:r>
            <a:endParaRPr b="0" i="0" sz="1500" u="none" cap="none" strike="noStrike">
              <a:solidFill>
                <a:schemeClr val="dk1"/>
              </a:solidFill>
              <a:latin typeface="Arial"/>
              <a:ea typeface="Arial"/>
              <a:cs typeface="Arial"/>
              <a:sym typeface="Arial"/>
            </a:endParaRPr>
          </a:p>
          <a:p>
            <a:pPr indent="-190500" lvl="0" marL="20320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Limited Generalizability</a:t>
            </a:r>
            <a:endParaRPr b="0" i="0" sz="1500" u="none" cap="none" strike="noStrike">
              <a:solidFill>
                <a:schemeClr val="dk1"/>
              </a:solidFill>
              <a:latin typeface="Arial"/>
              <a:ea typeface="Arial"/>
              <a:cs typeface="Arial"/>
              <a:sym typeface="Arial"/>
            </a:endParaRPr>
          </a:p>
        </p:txBody>
      </p:sp>
      <p:sp>
        <p:nvSpPr>
          <p:cNvPr id="183" name="Google Shape;183;g3d636c24f7b_2_376"/>
          <p:cNvSpPr/>
          <p:nvPr/>
        </p:nvSpPr>
        <p:spPr>
          <a:xfrm>
            <a:off x="6681659" y="4882000"/>
            <a:ext cx="34695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78A2A"/>
              </a:buClr>
              <a:buSzPts val="1400"/>
              <a:buFont typeface="Arial"/>
              <a:buNone/>
            </a:pPr>
            <a:r>
              <a:rPr b="1" i="0" lang="en-US" sz="1400" u="none" cap="none" strike="noStrike">
                <a:solidFill>
                  <a:srgbClr val="B78A2A"/>
                </a:solidFill>
                <a:latin typeface="Arial"/>
                <a:ea typeface="Arial"/>
                <a:cs typeface="Arial"/>
                <a:sym typeface="Arial"/>
              </a:rPr>
              <a:t>Conclusion and Future Studies</a:t>
            </a:r>
            <a:endParaRPr b="0" i="0" sz="1400" u="none" cap="none" strike="noStrike">
              <a:solidFill>
                <a:schemeClr val="dk1"/>
              </a:solidFill>
              <a:latin typeface="Arial"/>
              <a:ea typeface="Arial"/>
              <a:cs typeface="Arial"/>
              <a:sym typeface="Arial"/>
            </a:endParaRPr>
          </a:p>
        </p:txBody>
      </p:sp>
      <p:sp>
        <p:nvSpPr>
          <p:cNvPr id="184" name="Google Shape;184;g3d636c24f7b_2_376"/>
          <p:cNvSpPr txBox="1"/>
          <p:nvPr/>
        </p:nvSpPr>
        <p:spPr>
          <a:xfrm>
            <a:off x="6456275" y="5057100"/>
            <a:ext cx="5600700" cy="1800900"/>
          </a:xfrm>
          <a:prstGeom prst="rect">
            <a:avLst/>
          </a:prstGeom>
          <a:noFill/>
          <a:ln>
            <a:noFill/>
          </a:ln>
        </p:spPr>
        <p:txBody>
          <a:bodyPr anchorCtr="0" anchor="t" bIns="91425" lIns="91425" spcFirstLastPara="1" rIns="91425" wrap="square" tIns="91425">
            <a:spAutoFit/>
          </a:bodyPr>
          <a:lstStyle/>
          <a:p>
            <a:pPr indent="-190500" lvl="0" marL="203200" marR="0" rtl="0" algn="l">
              <a:lnSpc>
                <a:spcPct val="100000"/>
              </a:lnSpc>
              <a:spcBef>
                <a:spcPts val="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Trustworthy interpretation in breast-cancer ML should be based on agreement, not a single model’s ranking.</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190500" lvl="0" marL="203200" marR="0" rtl="0" algn="l">
              <a:lnSpc>
                <a:spcPct val="100000"/>
              </a:lnSpc>
              <a:spcBef>
                <a:spcPts val="0"/>
              </a:spcBef>
              <a:spcAft>
                <a:spcPts val="0"/>
              </a:spcAft>
              <a:buClr>
                <a:schemeClr val="dk1"/>
              </a:buClr>
              <a:buSzPts val="1500"/>
              <a:buFont typeface="Arial"/>
              <a:buChar char="•"/>
            </a:pPr>
            <a:r>
              <a:rPr b="0" i="0" lang="en-US" sz="1500" u="none" cap="none" strike="noStrike">
                <a:solidFill>
                  <a:srgbClr val="1F2430"/>
                </a:solidFill>
                <a:latin typeface="Arial"/>
                <a:ea typeface="Arial"/>
                <a:cs typeface="Arial"/>
                <a:sym typeface="Arial"/>
              </a:rPr>
              <a:t>Future work could incorporate class-weighted learning or resampling techniques to evaluate the impact of class imbalance on model disagreement.</a:t>
            </a:r>
            <a:endParaRPr b="0" i="0" sz="1500" u="none" cap="none" strike="noStrike">
              <a:solidFill>
                <a:srgbClr val="1F243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1F243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g3dae9b494f7_0_2" title="GMT20260429-210804_Recording_1440x846.mp4">
            <a:hlinkClick r:id="rId3"/>
          </p:cNvPr>
          <p:cNvPicPr preferRelativeResize="0"/>
          <p:nvPr/>
        </p:nvPicPr>
        <p:blipFill>
          <a:blip r:embed="rId4">
            <a:alphaModFix/>
          </a:blip>
          <a:stretch>
            <a:fillRect/>
          </a:stretch>
        </p:blipFill>
        <p:spPr>
          <a:xfrm>
            <a:off x="897425" y="896100"/>
            <a:ext cx="10397149" cy="5689826"/>
          </a:xfrm>
          <a:prstGeom prst="rect">
            <a:avLst/>
          </a:prstGeom>
          <a:noFill/>
          <a:ln>
            <a:noFill/>
          </a:ln>
        </p:spPr>
      </p:pic>
      <p:sp>
        <p:nvSpPr>
          <p:cNvPr id="190" name="Google Shape;190;g3dae9b494f7_0_2"/>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1F5B"/>
              </a:buClr>
              <a:buSzPts val="2800"/>
              <a:buFont typeface="Arial"/>
              <a:buNone/>
            </a:pPr>
            <a:r>
              <a:rPr b="1" lang="en-US" sz="2800">
                <a:solidFill>
                  <a:srgbClr val="0B1F5B"/>
                </a:solidFill>
              </a:rPr>
              <a:t>Video of our Codes and Analysis</a:t>
            </a:r>
            <a:endParaRPr b="0" i="0" sz="2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d62a2c1f65_0_97"/>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References</a:t>
            </a:r>
            <a:endParaRPr b="0" i="0" sz="2800" u="none" cap="none" strike="noStrike">
              <a:solidFill>
                <a:schemeClr val="dk1"/>
              </a:solidFill>
              <a:latin typeface="Arial"/>
              <a:ea typeface="Arial"/>
              <a:cs typeface="Arial"/>
              <a:sym typeface="Arial"/>
            </a:endParaRPr>
          </a:p>
        </p:txBody>
      </p:sp>
      <p:cxnSp>
        <p:nvCxnSpPr>
          <p:cNvPr id="197" name="Google Shape;197;g3d62a2c1f65_0_97"/>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198" name="Google Shape;198;g3d62a2c1f65_0_97"/>
          <p:cNvSpPr/>
          <p:nvPr/>
        </p:nvSpPr>
        <p:spPr>
          <a:xfrm>
            <a:off x="561550" y="1235400"/>
            <a:ext cx="10992600" cy="4625700"/>
          </a:xfrm>
          <a:prstGeom prst="rect">
            <a:avLst/>
          </a:prstGeom>
          <a:noFill/>
          <a:ln>
            <a:noFill/>
          </a:ln>
        </p:spPr>
        <p:txBody>
          <a:bodyPr anchorCtr="0" anchor="t" bIns="750" lIns="750" spcFirstLastPara="1" rIns="750" wrap="square" tIns="750">
            <a:noAutofit/>
          </a:bodyPr>
          <a:lstStyle/>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Makki, J. (2015). Diversity of breast carcinoma: Histological subtypes and clinical relevance. Clinical Medicine Insights: Pathology, 8, 23–31. https://doi.org/10.4137/CPath.S31563</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Wolberg, W., Mangasarian, O., Street, N., &amp; Street, W. (1993). Breast Cancer Wisconsin (Diagnostic) [Dataset]. UCI Machine Learning Repository. https://doi.org/10.24432/C5DW2B.</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National Cancer Institute (2025). Retrieved from https://seer.cancer.gov/statfacts/html/breast.html. Assessed on Feb 20, 2026.</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American Cancer Society (2026). Retrieved from https://www.cancer.org/cancer/types/breast-cancer/about/how-common-is-breast-cancer.html. Assessed on Feb 20, 2026.</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Shang, C., &amp; Xu, D. (2022). Epidemiology of breast cancer. Oncologie, 24(4), 649–663. https://doi.org/10.32604/oncologie.2022.027640</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Jaglan, P., Dass, R., &amp; Duhan, M. (2019). Breast cancer detection techniques: Issues and challenges. Journal of the Institution of Engineers (India): Series B, 100(4), 379–386. https://doi.org/10.1007/s40031-019-00391-2</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La Moglia, A., &amp; Almustafa, K. M. M. (2025). Breast cancer prediction using machine learning classification algorithms. Intelligence-Based Medicine, 11, 100193. https://doi.org/10.1016/j.ibmed.2024.100193</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Yue W, Wang Z, Chen H, Payne A, Liu X. 2018. Machine learning with applications in breast cancer diagnosis and prognosis. Designs. 2(2):13. doi: 10.3390/designs2020013.</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Ahsan, M. M., Luna, S. A., &amp; Siddique, Z. (2022). Machine-learning-based disease diagnosis: A comprehensive review. Healthcare (Basel), 10(3), 541. https://doi.org/10.3390/healthcare10030541</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Manzoor, M. (2024). Machine learning for early disease diagnosis: A review of techniques in healthcare applications. Premier Journal of Science, 2(4). https://doi.org/10.5281/zenodo.14095684</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Moreno-Ibarra, A., et al. (2021). Classification of diseases using machine learning algorithms: A comparative study. Mathematics, 9(15), 1817. https://doi.org/10.3390/math9151817</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Scherr, T. F., Douglas, C. E., Schaecher, K. E., Schoepp, R. J., Ricks, K. M., &amp; Shoemaker, C. J. (2024). Application of a machine learning-based classification approach for developing host protein diagnostic models for infectious disease. Diagnostics (Basel), 14(12), 1290. https://doi.org/10.3390/diagnostics14121290</a:t>
            </a:r>
            <a:endParaRPr b="0" i="0" sz="12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50"/>
              <a:buFont typeface="Arial"/>
              <a:buNone/>
            </a:pPr>
            <a:r>
              <a:t/>
            </a:r>
            <a:endParaRPr b="0" i="0" sz="1950" u="none" cap="none" strike="noStrike">
              <a:solidFill>
                <a:schemeClr val="dk1"/>
              </a:solidFill>
              <a:latin typeface="Arial"/>
              <a:ea typeface="Arial"/>
              <a:cs typeface="Arial"/>
              <a:sym typeface="Arial"/>
            </a:endParaRPr>
          </a:p>
        </p:txBody>
      </p:sp>
      <p:pic>
        <p:nvPicPr>
          <p:cNvPr descr="/mnt/data/template_logo.png" id="199" name="Google Shape;199;g3d62a2c1f65_0_97"/>
          <p:cNvPicPr preferRelativeResize="0"/>
          <p:nvPr/>
        </p:nvPicPr>
        <p:blipFill rotWithShape="1">
          <a:blip r:embed="rId3">
            <a:alphaModFix/>
          </a:blip>
          <a:srcRect b="0" l="0" r="0" t="0"/>
          <a:stretch/>
        </p:blipFill>
        <p:spPr>
          <a:xfrm>
            <a:off x="320040" y="5925312"/>
            <a:ext cx="822960" cy="71780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d62a2c1f65_0_105"/>
          <p:cNvSpPr/>
          <p:nvPr/>
        </p:nvSpPr>
        <p:spPr>
          <a:xfrm>
            <a:off x="777240" y="384048"/>
            <a:ext cx="95097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F5B"/>
              </a:buClr>
              <a:buSzPts val="2800"/>
              <a:buFont typeface="Arial"/>
              <a:buNone/>
            </a:pPr>
            <a:r>
              <a:rPr b="1" i="0" lang="en-US" sz="2800" u="none" cap="none" strike="noStrike">
                <a:solidFill>
                  <a:srgbClr val="0B1F5B"/>
                </a:solidFill>
                <a:latin typeface="Arial"/>
                <a:ea typeface="Arial"/>
                <a:cs typeface="Arial"/>
                <a:sym typeface="Arial"/>
              </a:rPr>
              <a:t>References</a:t>
            </a:r>
            <a:endParaRPr b="0" i="0" sz="2800" u="none" cap="none" strike="noStrike">
              <a:solidFill>
                <a:schemeClr val="dk1"/>
              </a:solidFill>
              <a:latin typeface="Arial"/>
              <a:ea typeface="Arial"/>
              <a:cs typeface="Arial"/>
              <a:sym typeface="Arial"/>
            </a:endParaRPr>
          </a:p>
        </p:txBody>
      </p:sp>
      <p:cxnSp>
        <p:nvCxnSpPr>
          <p:cNvPr id="206" name="Google Shape;206;g3d62a2c1f65_0_105"/>
          <p:cNvCxnSpPr/>
          <p:nvPr/>
        </p:nvCxnSpPr>
        <p:spPr>
          <a:xfrm>
            <a:off x="777240" y="932688"/>
            <a:ext cx="10561200" cy="0"/>
          </a:xfrm>
          <a:prstGeom prst="straightConnector1">
            <a:avLst/>
          </a:prstGeom>
          <a:noFill/>
          <a:ln cap="flat" cmpd="sng" w="19050">
            <a:solidFill>
              <a:srgbClr val="B78A2A"/>
            </a:solidFill>
            <a:prstDash val="solid"/>
            <a:round/>
            <a:headEnd len="sm" w="sm" type="none"/>
            <a:tailEnd len="sm" w="sm" type="none"/>
          </a:ln>
        </p:spPr>
      </p:cxnSp>
      <p:sp>
        <p:nvSpPr>
          <p:cNvPr id="207" name="Google Shape;207;g3d62a2c1f65_0_105"/>
          <p:cNvSpPr/>
          <p:nvPr/>
        </p:nvSpPr>
        <p:spPr>
          <a:xfrm>
            <a:off x="561550" y="1235400"/>
            <a:ext cx="10992600" cy="4625700"/>
          </a:xfrm>
          <a:prstGeom prst="rect">
            <a:avLst/>
          </a:prstGeom>
          <a:noFill/>
          <a:ln>
            <a:noFill/>
          </a:ln>
        </p:spPr>
        <p:txBody>
          <a:bodyPr anchorCtr="0" anchor="t" bIns="750" lIns="750" spcFirstLastPara="1" rIns="750" wrap="square" tIns="750">
            <a:noAutofit/>
          </a:bodyPr>
          <a:lstStyle/>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Jafari, A. (2024). Machine-learning methods in detecting breast cancer and related therapeutic issues: A review. Computer Methods in Biomechanics and Biomedical Engineering: Imaging &amp; Visualization, 12(1), Article 2299093. </a:t>
            </a:r>
            <a:r>
              <a:rPr b="0" i="0" lang="en-US" sz="1200" u="sng" cap="none" strike="noStrike">
                <a:solidFill>
                  <a:schemeClr val="hlink"/>
                </a:solidFill>
                <a:latin typeface="Arial"/>
                <a:ea typeface="Arial"/>
                <a:cs typeface="Arial"/>
                <a:sym typeface="Arial"/>
                <a:hlinkClick r:id="rId3"/>
              </a:rPr>
              <a:t>https://doi.org/10.1080/21681163.2023.2299093</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La Moglia, A., &amp; Almustafa, K. M. (2025). Breast cancer prediction using machine learning classification algorithms. Intelligence-Based Medicine, 11, Article 100193. </a:t>
            </a:r>
            <a:r>
              <a:rPr b="0" i="0" lang="en-US" sz="1200" u="sng" cap="none" strike="noStrike">
                <a:solidFill>
                  <a:schemeClr val="hlink"/>
                </a:solidFill>
                <a:latin typeface="Arial"/>
                <a:ea typeface="Arial"/>
                <a:cs typeface="Arial"/>
                <a:sym typeface="Arial"/>
                <a:hlinkClick r:id="rId4"/>
              </a:rPr>
              <a:t>https://doi.org/10.1016/j.ibmed.2024.100193</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Yedjou, C. G., Tchounwou, S. S., Aló, R. A., Elhag, R., Mochona, B., &amp; Latinwo, L. (2021). Application of machine learning algorithms in breast cancer diagnosis and classification. International Journal of Science and Academic Research, 2(1), 3081–3086.</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Brunyé, T. T., Booth, K., Hendel, D., Kerr, K. F., Shucard, H., Weaver, D. L., &amp; Elmore, J. G. (2024). Machine learning classification of diagnostic accuracy in pathologists interpreting breast biopsies. Journal of the American Medical Informatics Association : JAMIA, 31(3), 552–562. </a:t>
            </a:r>
            <a:r>
              <a:rPr b="0" i="0" lang="en-US" sz="1200" u="sng" cap="none" strike="noStrike">
                <a:solidFill>
                  <a:schemeClr val="hlink"/>
                </a:solidFill>
                <a:latin typeface="Arial"/>
                <a:ea typeface="Arial"/>
                <a:cs typeface="Arial"/>
                <a:sym typeface="Arial"/>
                <a:hlinkClick r:id="rId5"/>
              </a:rPr>
              <a:t>https://doi.org/10.1093/jamia/ocad232</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Al-Azzam, N., &amp; Shatnawi, I. (2021). Comparing supervised and semi-supervised machine learning models on diagnosing breast cancer. Annals of Medicine and Surgery, 62, 53–64. https://doi.org/10.1016/j.amsu.2020.12.043</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Li, X., Li, C., Wang, H., Jiang, L., &amp; Chen, M. (2024). Comparison of radiomics-based machine-learning classifiers for the pretreatment prediction of pathologic complete response to neoadjuvant therapy in breast cancer. PeerJ, 12, e17683. https://doi.org/10.7717/peerj.17683</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Xiao, J., Mo, M., Wang, Z., Zhou, C., Shen, J., Yuan, J., He, Y., &amp; Zheng, Y. (2022). The application and comparison of machine learning models for the prediction of breast cancer prognosis: Retrospective cohort study. JMIR Medical Informatics, 10(2), e33440. https://doi.org/10.2196/33440</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Yao, J., Zhou, W., Xu, S., Jia, X., Zhou, J., Chen, X., &amp; Zhan, W. (2024). Machine learning-based breast tumor ultrasound radiomics for pre-operative prediction of axillary sentinel lymph node metastasis burden in early-stage invasive breast cancer. Ultrasound in Medicine &amp; Biology, 50(2), 229–236. https://doi.org/10.1016/j.ultrasmedbio.2023.10.004</a:t>
            </a:r>
            <a:endParaRPr b="0" i="0" sz="1200" u="none" cap="none" strike="noStrike">
              <a:solidFill>
                <a:schemeClr val="dk1"/>
              </a:solidFill>
              <a:latin typeface="Arial"/>
              <a:ea typeface="Arial"/>
              <a:cs typeface="Arial"/>
              <a:sym typeface="Arial"/>
            </a:endParaRPr>
          </a:p>
          <a:p>
            <a:pPr indent="-149225" lvl="0" marL="1778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Zhou, S., Hu, C., Wei, S., &amp; Yan, X. (2024). Breast cancer prediction based on multiple machine learning algorithms. Technology in Cancer Research &amp; Treatment, 23, 15330338241234791. https://doi.org/10.1177/15330338241234791</a:t>
            </a:r>
            <a:endParaRPr b="0" i="0" sz="12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descr="/mnt/data/template_logo.png" id="208" name="Google Shape;208;g3d62a2c1f65_0_105"/>
          <p:cNvPicPr preferRelativeResize="0"/>
          <p:nvPr/>
        </p:nvPicPr>
        <p:blipFill rotWithShape="1">
          <a:blip r:embed="rId6">
            <a:alphaModFix/>
          </a:blip>
          <a:srcRect b="0" l="0" r="0" t="0"/>
          <a:stretch/>
        </p:blipFill>
        <p:spPr>
          <a:xfrm>
            <a:off x="320040" y="5925312"/>
            <a:ext cx="822960" cy="71780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2026-04-14T14:11:02Z</dcterms:created>
  <dc:creator>OpenAI</dc:creator>
</cp:coreProperties>
</file>